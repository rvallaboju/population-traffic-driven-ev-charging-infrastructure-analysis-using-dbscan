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Manrope" panose="020B0604020202020204" charset="0"/>
      <p:regular r:id="rId19"/>
      <p:bold r:id="rId20"/>
    </p:embeddedFont>
    <p:embeddedFont>
      <p:font typeface="Noto Sans Symbols" panose="020B0604020202020204" charset="0"/>
      <p:regular r:id="rId21"/>
      <p:bold r:id="rId22"/>
    </p:embeddedFont>
    <p:embeddedFont>
      <p:font typeface="Open Sans" panose="020B0606030504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55986C-D7BB-421E-9FE7-99E7DF827B28}">
  <a:tblStyle styleId="{C455986C-D7BB-421E-9FE7-99E7DF827B2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 name="Google Shape;2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 name="Google Shape;3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 name="Google Shape;3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 name="Google Shape;5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 name="Google Shape;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lt1"/>
        </a:solidFill>
        <a:effectLst/>
      </p:bgPr>
    </p:bg>
    <p:spTree>
      <p:nvGrpSpPr>
        <p:cNvPr id="1" name="Shape 6"/>
        <p:cNvGrpSpPr/>
        <p:nvPr/>
      </p:nvGrpSpPr>
      <p:grpSpPr>
        <a:xfrm>
          <a:off x="0" y="0"/>
          <a:ext cx="0" cy="0"/>
          <a:chOff x="0" y="0"/>
          <a:chExt cx="0" cy="0"/>
        </a:xfrm>
      </p:grpSpPr>
      <p:sp>
        <p:nvSpPr>
          <p:cNvPr id="7" name="Google Shape;7;p2"/>
          <p:cNvSpPr txBox="1">
            <a:spLocks noGrp="1"/>
          </p:cNvSpPr>
          <p:nvPr>
            <p:ph type="title"/>
          </p:nvPr>
        </p:nvSpPr>
        <p:spPr>
          <a:xfrm>
            <a:off x="327600" y="200880"/>
            <a:ext cx="4593600" cy="317304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2"/>
          <p:cNvSpPr txBox="1">
            <a:spLocks noGrp="1"/>
          </p:cNvSpPr>
          <p:nvPr>
            <p:ph type="body" idx="1"/>
          </p:nvPr>
        </p:nvSpPr>
        <p:spPr>
          <a:xfrm>
            <a:off x="5363640" y="0"/>
            <a:ext cx="3780360" cy="5143320"/>
          </a:xfrm>
          <a:prstGeom prst="rect">
            <a:avLst/>
          </a:prstGeom>
          <a:noFill/>
          <a:ln>
            <a:noFill/>
          </a:ln>
        </p:spPr>
        <p:txBody>
          <a:bodyPr spcFirstLastPara="1" wrap="square" lIns="90000" tIns="45000" rIns="90000" bIns="450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ONLY" type="titleOnly">
  <p:cSld name="TITLE_ONLY">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27600" y="253080"/>
            <a:ext cx="7703640" cy="5724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_4">
  <p:cSld name="CUSTOM_4">
    <p:bg>
      <p:bgPr>
        <a:solidFill>
          <a:schemeClr val="lt1"/>
        </a:solidFill>
        <a:effectLst/>
      </p:bgPr>
    </p:bg>
    <p:spTree>
      <p:nvGrpSpPr>
        <p:cNvPr id="1" name="Shape 12"/>
        <p:cNvGrpSpPr/>
        <p:nvPr/>
      </p:nvGrpSpPr>
      <p:grpSpPr>
        <a:xfrm>
          <a:off x="0" y="0"/>
          <a:ext cx="0" cy="0"/>
          <a:chOff x="0" y="0"/>
          <a:chExt cx="0" cy="0"/>
        </a:xfrm>
      </p:grpSpPr>
      <p:sp>
        <p:nvSpPr>
          <p:cNvPr id="13" name="Google Shape;13;p4"/>
          <p:cNvSpPr txBox="1">
            <a:spLocks noGrp="1"/>
          </p:cNvSpPr>
          <p:nvPr>
            <p:ph type="title"/>
          </p:nvPr>
        </p:nvSpPr>
        <p:spPr>
          <a:xfrm>
            <a:off x="1026000" y="1046160"/>
            <a:ext cx="7674840" cy="92628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4"/>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_COLUMN_TEXT_1" type="blank">
  <p:cSld name="BLANK">
    <p:bg>
      <p:bgPr>
        <a:solidFill>
          <a:schemeClr val="lt1"/>
        </a:solidFill>
        <a:effectLst/>
      </p:bgPr>
    </p:bg>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327600" y="209160"/>
            <a:ext cx="4669560" cy="102744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5"/>
          <p:cNvSpPr txBox="1">
            <a:spLocks noGrp="1"/>
          </p:cNvSpPr>
          <p:nvPr>
            <p:ph type="body" idx="1"/>
          </p:nvPr>
        </p:nvSpPr>
        <p:spPr>
          <a:xfrm>
            <a:off x="5230800" y="0"/>
            <a:ext cx="3912840" cy="5150880"/>
          </a:xfrm>
          <a:prstGeom prst="rect">
            <a:avLst/>
          </a:prstGeom>
          <a:noFill/>
          <a:ln>
            <a:noFill/>
          </a:ln>
        </p:spPr>
        <p:txBody>
          <a:bodyPr spcFirstLastPara="1" wrap="square" lIns="90000" tIns="45000" rIns="90000" bIns="450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_3_1">
  <p:cSld name="CUSTOM_3_1">
    <p:bg>
      <p:bgPr>
        <a:solidFill>
          <a:schemeClr val="dk1"/>
        </a:solidFill>
        <a:effectLst/>
      </p:bgPr>
    </p:bg>
    <p:spTree>
      <p:nvGrpSpPr>
        <p:cNvPr id="1" name="Shape 18"/>
        <p:cNvGrpSpPr/>
        <p:nvPr/>
      </p:nvGrpSpPr>
      <p:grpSpPr>
        <a:xfrm>
          <a:off x="0" y="0"/>
          <a:ext cx="0" cy="0"/>
          <a:chOff x="0" y="0"/>
          <a:chExt cx="0" cy="0"/>
        </a:xfrm>
      </p:grpSpPr>
      <p:sp>
        <p:nvSpPr>
          <p:cNvPr id="19" name="Google Shape;19;p6"/>
          <p:cNvSpPr txBox="1">
            <a:spLocks noGrp="1"/>
          </p:cNvSpPr>
          <p:nvPr>
            <p:ph type="title"/>
          </p:nvPr>
        </p:nvSpPr>
        <p:spPr>
          <a:xfrm>
            <a:off x="327600" y="240480"/>
            <a:ext cx="5539320" cy="10584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 name="Google Shape;20;p6"/>
          <p:cNvSpPr/>
          <p:nvPr/>
        </p:nvSpPr>
        <p:spPr>
          <a:xfrm>
            <a:off x="4447440" y="3757680"/>
            <a:ext cx="3998880" cy="43704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Open Sans"/>
                <a:ea typeface="Open Sans"/>
                <a:cs typeface="Open Sans"/>
                <a:sym typeface="Open Sans"/>
              </a:rPr>
              <a:t>CREDITS:</a:t>
            </a:r>
            <a:r>
              <a:rPr lang="en-US" sz="1000" b="0" i="0" u="none" strike="noStrike" cap="none">
                <a:solidFill>
                  <a:schemeClr val="lt1"/>
                </a:solidFill>
                <a:latin typeface="Open Sans"/>
                <a:ea typeface="Open Sans"/>
                <a:cs typeface="Open Sans"/>
                <a:sym typeface="Open Sans"/>
              </a:rPr>
              <a:t> This presentation template was created by </a:t>
            </a:r>
            <a:r>
              <a:rPr lang="en-US" sz="1000" b="1" i="0" u="sng" strike="noStrike" cap="none">
                <a:solidFill>
                  <a:schemeClr val="hlink"/>
                </a:solidFill>
                <a:latin typeface="Open Sans"/>
                <a:ea typeface="Open Sans"/>
                <a:cs typeface="Open Sans"/>
                <a:sym typeface="Open Sans"/>
                <a:hlinkClick r:id="rId2"/>
              </a:rPr>
              <a:t>Slidesgo</a:t>
            </a:r>
            <a:r>
              <a:rPr lang="en-US" sz="1000" b="0" i="0" u="none" strike="noStrike" cap="none">
                <a:solidFill>
                  <a:schemeClr val="lt1"/>
                </a:solidFill>
                <a:latin typeface="Open Sans"/>
                <a:ea typeface="Open Sans"/>
                <a:cs typeface="Open Sans"/>
                <a:sym typeface="Open Sans"/>
              </a:rPr>
              <a:t>, and includes icons, infographics &amp; images by </a:t>
            </a:r>
            <a:r>
              <a:rPr lang="en-US" sz="1000" b="1" i="0" u="sng" strike="noStrike" cap="none">
                <a:solidFill>
                  <a:schemeClr val="hlink"/>
                </a:solidFill>
                <a:latin typeface="Open Sans"/>
                <a:ea typeface="Open Sans"/>
                <a:cs typeface="Open Sans"/>
                <a:sym typeface="Open Sans"/>
                <a:hlinkClick r:id="rId3"/>
              </a:rPr>
              <a:t>Freepik</a:t>
            </a:r>
            <a:r>
              <a:rPr lang="en-US" sz="1000" b="0" i="0" u="sng" strike="noStrike" cap="none">
                <a:solidFill>
                  <a:schemeClr val="lt1"/>
                </a:solidFill>
                <a:latin typeface="Open Sans"/>
                <a:ea typeface="Open Sans"/>
                <a:cs typeface="Open Sans"/>
                <a:sym typeface="Open Sans"/>
              </a:rPr>
              <a:t> </a:t>
            </a:r>
            <a:endParaRPr sz="1000" b="0" i="0" u="none" strike="noStrike" cap="non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fdc.energy.gov/data_download"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www.tomtom.com/traffic-index/country/united-states-of-america" TargetMode="External"/><Relationship Id="rId4" Type="http://schemas.openxmlformats.org/officeDocument/2006/relationships/hyperlink" Target="https://www.everycityintheusa.com/data/city-population-csv/"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no.of"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24"/>
        <p:cNvGrpSpPr/>
        <p:nvPr/>
      </p:nvGrpSpPr>
      <p:grpSpPr>
        <a:xfrm>
          <a:off x="0" y="0"/>
          <a:ext cx="0" cy="0"/>
          <a:chOff x="0" y="0"/>
          <a:chExt cx="0" cy="0"/>
        </a:xfrm>
      </p:grpSpPr>
      <p:cxnSp>
        <p:nvCxnSpPr>
          <p:cNvPr id="25" name="Google Shape;25;p7"/>
          <p:cNvCxnSpPr/>
          <p:nvPr/>
        </p:nvCxnSpPr>
        <p:spPr>
          <a:xfrm>
            <a:off x="-5040" y="4126680"/>
            <a:ext cx="9182160" cy="360"/>
          </a:xfrm>
          <a:prstGeom prst="straightConnector1">
            <a:avLst/>
          </a:prstGeom>
          <a:noFill/>
          <a:ln w="9525" cap="flat" cmpd="sng">
            <a:solidFill>
              <a:srgbClr val="2B3D2D"/>
            </a:solidFill>
            <a:prstDash val="solid"/>
            <a:round/>
            <a:headEnd type="none" w="sm" len="sm"/>
            <a:tailEnd type="none" w="sm" len="sm"/>
          </a:ln>
        </p:spPr>
      </p:cxnSp>
      <p:sp>
        <p:nvSpPr>
          <p:cNvPr id="26" name="Google Shape;26;p7"/>
          <p:cNvSpPr/>
          <p:nvPr/>
        </p:nvSpPr>
        <p:spPr>
          <a:xfrm>
            <a:off x="1133700" y="1644750"/>
            <a:ext cx="7657500" cy="11604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Clr>
                <a:srgbClr val="000000"/>
              </a:buClr>
              <a:buSzPts val="2525"/>
              <a:buFont typeface="Arial"/>
              <a:buNone/>
            </a:pPr>
            <a:r>
              <a:rPr lang="en-US" sz="2525" b="1" i="0" u="none" strike="noStrike" cap="none">
                <a:solidFill>
                  <a:srgbClr val="2B3D2D"/>
                </a:solidFill>
                <a:latin typeface="Times New Roman"/>
                <a:ea typeface="Times New Roman"/>
                <a:cs typeface="Times New Roman"/>
                <a:sym typeface="Times New Roman"/>
              </a:rPr>
              <a:t>Population–Traffic Driven EV Charging Infrastructure Analysis using DBSCAN</a:t>
            </a:r>
            <a:endParaRPr sz="3825" b="1" i="0" u="none" strike="noStrike" cap="none">
              <a:solidFill>
                <a:srgbClr val="2B3D2D"/>
              </a:solidFill>
              <a:latin typeface="Times New Roman"/>
              <a:ea typeface="Times New Roman"/>
              <a:cs typeface="Times New Roman"/>
              <a:sym typeface="Times New Roman"/>
            </a:endParaRPr>
          </a:p>
        </p:txBody>
      </p:sp>
      <p:sp>
        <p:nvSpPr>
          <p:cNvPr id="27" name="Google Shape;27;p7"/>
          <p:cNvSpPr/>
          <p:nvPr/>
        </p:nvSpPr>
        <p:spPr>
          <a:xfrm>
            <a:off x="4427750" y="4191800"/>
            <a:ext cx="4590600" cy="380400"/>
          </a:xfrm>
          <a:prstGeom prst="rect">
            <a:avLst/>
          </a:prstGeom>
          <a:noFill/>
          <a:ln>
            <a:noFill/>
          </a:ln>
        </p:spPr>
        <p:txBody>
          <a:bodyPr spcFirstLastPara="1" wrap="square" lIns="91425" tIns="45700" rIns="91425" bIns="45700" anchor="t" anchorCtr="0">
            <a:noAutofit/>
          </a:bodyPr>
          <a:lstStyle/>
          <a:p>
            <a:pPr marL="0" marR="0" lvl="0" indent="0" algn="r" rtl="0">
              <a:lnSpc>
                <a:spcPct val="140016"/>
              </a:lnSpc>
              <a:spcBef>
                <a:spcPts val="0"/>
              </a:spcBef>
              <a:spcAft>
                <a:spcPts val="0"/>
              </a:spcAft>
              <a:buClr>
                <a:srgbClr val="000000"/>
              </a:buClr>
              <a:buSzPts val="899"/>
              <a:buFont typeface="Arial"/>
              <a:buNone/>
            </a:pPr>
            <a:r>
              <a:rPr lang="en-US" sz="899" b="1" i="0" u="none" strike="noStrike" cap="none">
                <a:solidFill>
                  <a:srgbClr val="0B132B"/>
                </a:solidFill>
                <a:latin typeface="Times New Roman"/>
                <a:ea typeface="Times New Roman"/>
                <a:cs typeface="Times New Roman"/>
                <a:sym typeface="Times New Roman"/>
              </a:rPr>
              <a:t>RUTHIKA VALLABOJU </a:t>
            </a:r>
            <a:endParaRPr sz="899" b="1" i="0" u="none" strike="noStrike" cap="none">
              <a:solidFill>
                <a:srgbClr val="0B132B"/>
              </a:solidFill>
              <a:latin typeface="Times New Roman"/>
              <a:ea typeface="Times New Roman"/>
              <a:cs typeface="Times New Roman"/>
              <a:sym typeface="Times New Roman"/>
            </a:endParaRPr>
          </a:p>
          <a:p>
            <a:pPr marL="0" marR="0" lvl="0" indent="0" algn="r" rtl="0">
              <a:lnSpc>
                <a:spcPct val="115000"/>
              </a:lnSpc>
              <a:spcBef>
                <a:spcPts val="1200"/>
              </a:spcBef>
              <a:spcAft>
                <a:spcPts val="0"/>
              </a:spcAft>
              <a:buClr>
                <a:srgbClr val="000000"/>
              </a:buClr>
              <a:buSzPts val="899"/>
              <a:buFont typeface="Arial"/>
              <a:buNone/>
            </a:pPr>
            <a:r>
              <a:rPr lang="en-US" sz="899" b="1" i="0" u="none" strike="noStrike" cap="none">
                <a:solidFill>
                  <a:srgbClr val="0B132B"/>
                </a:solidFill>
                <a:latin typeface="Times New Roman"/>
                <a:ea typeface="Times New Roman"/>
                <a:cs typeface="Times New Roman"/>
                <a:sym typeface="Times New Roman"/>
              </a:rPr>
              <a:t>REGIS UNIVERSITY</a:t>
            </a:r>
            <a:endParaRPr sz="899" b="1" i="0" u="none" strike="noStrike" cap="none">
              <a:solidFill>
                <a:srgbClr val="0B132B"/>
              </a:solidFill>
              <a:latin typeface="Times New Roman"/>
              <a:ea typeface="Times New Roman"/>
              <a:cs typeface="Times New Roman"/>
              <a:sym typeface="Times New Roman"/>
            </a:endParaRPr>
          </a:p>
          <a:p>
            <a:pPr marL="0" marR="0" lvl="0" indent="0" algn="r" rtl="0">
              <a:lnSpc>
                <a:spcPct val="115000"/>
              </a:lnSpc>
              <a:spcBef>
                <a:spcPts val="1200"/>
              </a:spcBef>
              <a:spcAft>
                <a:spcPts val="1200"/>
              </a:spcAft>
              <a:buClr>
                <a:srgbClr val="000000"/>
              </a:buClr>
              <a:buSzPts val="899"/>
              <a:buFont typeface="Arial"/>
              <a:buNone/>
            </a:pPr>
            <a:r>
              <a:rPr lang="en-US" sz="899" b="1" i="0" u="none" strike="noStrike" cap="none">
                <a:solidFill>
                  <a:srgbClr val="0B132B"/>
                </a:solidFill>
                <a:latin typeface="Times New Roman"/>
                <a:ea typeface="Times New Roman"/>
                <a:cs typeface="Times New Roman"/>
                <a:sym typeface="Times New Roman"/>
              </a:rPr>
              <a:t>DATA SCIENCE PRACTICUM 1</a:t>
            </a:r>
            <a:endParaRPr sz="300" b="1" i="0" u="none" strike="noStrike" cap="none">
              <a:solidFill>
                <a:srgbClr val="2B3D2D"/>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1"/>
        <p:cNvGrpSpPr/>
        <p:nvPr/>
      </p:nvGrpSpPr>
      <p:grpSpPr>
        <a:xfrm>
          <a:off x="0" y="0"/>
          <a:ext cx="0" cy="0"/>
          <a:chOff x="0" y="0"/>
          <a:chExt cx="0" cy="0"/>
        </a:xfrm>
      </p:grpSpPr>
      <p:sp>
        <p:nvSpPr>
          <p:cNvPr id="32" name="Google Shape;32;p8"/>
          <p:cNvSpPr/>
          <p:nvPr/>
        </p:nvSpPr>
        <p:spPr>
          <a:xfrm>
            <a:off x="89830" y="172180"/>
            <a:ext cx="3619200" cy="501289"/>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Clr>
                <a:srgbClr val="000000"/>
              </a:buClr>
              <a:buSzPts val="2040"/>
              <a:buFont typeface="Arial"/>
              <a:buNone/>
            </a:pPr>
            <a:r>
              <a:rPr lang="en-US" sz="2040" b="1" i="0" u="none" strike="noStrike" cap="none">
                <a:solidFill>
                  <a:srgbClr val="2B3D2D"/>
                </a:solidFill>
                <a:latin typeface="Times New Roman"/>
                <a:ea typeface="Times New Roman"/>
                <a:cs typeface="Times New Roman"/>
                <a:sym typeface="Times New Roman"/>
              </a:rPr>
              <a:t>Introduction</a:t>
            </a:r>
            <a:endParaRPr sz="2040" b="1" i="0" u="none" strike="noStrike" cap="none">
              <a:solidFill>
                <a:srgbClr val="000000"/>
              </a:solidFill>
              <a:latin typeface="Times New Roman"/>
              <a:ea typeface="Times New Roman"/>
              <a:cs typeface="Times New Roman"/>
              <a:sym typeface="Times New Roman"/>
            </a:endParaRPr>
          </a:p>
        </p:txBody>
      </p:sp>
      <p:sp>
        <p:nvSpPr>
          <p:cNvPr id="33" name="Google Shape;33;p8"/>
          <p:cNvSpPr/>
          <p:nvPr/>
        </p:nvSpPr>
        <p:spPr>
          <a:xfrm>
            <a:off x="476250" y="804997"/>
            <a:ext cx="7965300" cy="3610103"/>
          </a:xfrm>
          <a:prstGeom prst="rect">
            <a:avLst/>
          </a:prstGeom>
          <a:noFill/>
          <a:ln>
            <a:noFill/>
          </a:ln>
        </p:spPr>
        <p:txBody>
          <a:bodyPr spcFirstLastPara="1" wrap="square" lIns="91425" tIns="45700" rIns="91425" bIns="45700" anchor="t" anchorCtr="0">
            <a:noAutofit/>
          </a:bodyPr>
          <a:lstStyle/>
          <a:p>
            <a:pPr marL="914400" marR="0" lvl="0" indent="0" algn="just" rtl="0">
              <a:lnSpc>
                <a:spcPct val="140001"/>
              </a:lnSpc>
              <a:spcBef>
                <a:spcPts val="0"/>
              </a:spcBef>
              <a:spcAft>
                <a:spcPts val="0"/>
              </a:spcAft>
              <a:buClr>
                <a:srgbClr val="000000"/>
              </a:buClr>
              <a:buSzPts val="1500"/>
              <a:buFont typeface="Arial"/>
              <a:buNone/>
            </a:pPr>
            <a:endParaRPr sz="1500" b="0" i="0" u="none" strike="noStrike" cap="none">
              <a:solidFill>
                <a:srgbClr val="2B3D2D"/>
              </a:solidFill>
              <a:latin typeface="Times New Roman"/>
              <a:ea typeface="Times New Roman"/>
              <a:cs typeface="Times New Roman"/>
              <a:sym typeface="Times New Roman"/>
            </a:endParaRPr>
          </a:p>
          <a:p>
            <a:pPr marL="457200" marR="0" lvl="0" indent="-323850" algn="just" rtl="0">
              <a:lnSpc>
                <a:spcPct val="140001"/>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EVs are becoming popular all over the U.S., and they make up close to 10% of new vehicle sales. However, the number of charging stations has not quite kept pace with demand. In fact, there was only one new public charging port added for every 29 new EVs added.</a:t>
            </a:r>
            <a:endParaRPr sz="1500">
              <a:solidFill>
                <a:srgbClr val="2B3D2D"/>
              </a:solidFill>
              <a:latin typeface="Times New Roman"/>
              <a:ea typeface="Times New Roman"/>
              <a:cs typeface="Times New Roman"/>
              <a:sym typeface="Times New Roman"/>
            </a:endParaRPr>
          </a:p>
          <a:p>
            <a:pPr marL="457200" marR="0" lvl="0" indent="-323850" algn="just" rtl="0">
              <a:lnSpc>
                <a:spcPct val="140001"/>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The actual demand is not reflected by the number of stations. Combining infrastructure, population, traffic data helps identify cities and guide charging expansion in the future.</a:t>
            </a:r>
            <a:endParaRPr sz="1500">
              <a:solidFill>
                <a:srgbClr val="2B3D2D"/>
              </a:solidFill>
              <a:latin typeface="Times New Roman"/>
              <a:ea typeface="Times New Roman"/>
              <a:cs typeface="Times New Roman"/>
              <a:sym typeface="Times New Roman"/>
            </a:endParaRPr>
          </a:p>
          <a:p>
            <a:pPr marL="457200" marR="0" lvl="0" indent="-323850" algn="just" rtl="0">
              <a:lnSpc>
                <a:spcPct val="140001"/>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To begin with the analysis, is to rank American cities by their underserved score. A score derived from EV charging availability, population, and traffic. The identified underserved cities are designated to multiple clusters using the DBSCAN unsupervised learning algorithm to identify geographic patterns, regional gaps, and priority areas for more charging stations and investments.</a:t>
            </a:r>
            <a:endParaRPr sz="1500">
              <a:solidFill>
                <a:srgbClr val="2B3D2D"/>
              </a:solidFill>
              <a:latin typeface="Times New Roman"/>
              <a:ea typeface="Times New Roman"/>
              <a:cs typeface="Times New Roman"/>
              <a:sym typeface="Times New Roman"/>
            </a:endParaRPr>
          </a:p>
          <a:p>
            <a:pPr marL="457200" marR="0" lvl="0" indent="0" algn="just" rtl="0">
              <a:lnSpc>
                <a:spcPct val="140001"/>
              </a:lnSpc>
              <a:spcBef>
                <a:spcPts val="0"/>
              </a:spcBef>
              <a:spcAft>
                <a:spcPts val="0"/>
              </a:spcAft>
              <a:buNone/>
            </a:pPr>
            <a:endParaRPr sz="1600">
              <a:solidFill>
                <a:srgbClr val="2B3D2D"/>
              </a:solidFill>
              <a:latin typeface="Times New Roman"/>
              <a:ea typeface="Times New Roman"/>
              <a:cs typeface="Times New Roman"/>
              <a:sym typeface="Times New Roman"/>
            </a:endParaRPr>
          </a:p>
          <a:p>
            <a:pPr marL="457200" marR="0" lvl="0" indent="0" algn="just" rtl="0">
              <a:lnSpc>
                <a:spcPct val="140001"/>
              </a:lnSpc>
              <a:spcBef>
                <a:spcPts val="0"/>
              </a:spcBef>
              <a:spcAft>
                <a:spcPts val="0"/>
              </a:spcAft>
              <a:buClr>
                <a:srgbClr val="000000"/>
              </a:buClr>
              <a:buSzPts val="1500"/>
              <a:buFont typeface="Arial"/>
              <a:buNone/>
            </a:pPr>
            <a:endParaRPr sz="1500" b="0" i="0" u="none" strike="noStrike" cap="none">
              <a:solidFill>
                <a:srgbClr val="2B3D2D"/>
              </a:solidFill>
              <a:latin typeface="Times New Roman"/>
              <a:ea typeface="Times New Roman"/>
              <a:cs typeface="Times New Roman"/>
              <a:sym typeface="Times New Roman"/>
            </a:endParaRPr>
          </a:p>
          <a:p>
            <a:pPr marL="0" marR="0" lvl="0" indent="0" algn="just" rtl="0">
              <a:lnSpc>
                <a:spcPct val="140001"/>
              </a:lnSpc>
              <a:spcBef>
                <a:spcPts val="0"/>
              </a:spcBef>
              <a:spcAft>
                <a:spcPts val="0"/>
              </a:spcAft>
              <a:buClr>
                <a:srgbClr val="000000"/>
              </a:buClr>
              <a:buSzPts val="1500"/>
              <a:buFont typeface="Arial"/>
              <a:buNone/>
            </a:pPr>
            <a:endParaRPr sz="1500" b="0" i="0" u="none" strike="noStrike" cap="none">
              <a:solidFill>
                <a:srgbClr val="2B3D2D"/>
              </a:solidFill>
              <a:latin typeface="Times New Roman"/>
              <a:ea typeface="Times New Roman"/>
              <a:cs typeface="Times New Roman"/>
              <a:sym typeface="Times New Roman"/>
            </a:endParaRPr>
          </a:p>
          <a:p>
            <a:pPr marL="0" marR="0" lvl="0" indent="0" algn="just" rtl="0">
              <a:lnSpc>
                <a:spcPct val="140001"/>
              </a:lnSpc>
              <a:spcBef>
                <a:spcPts val="0"/>
              </a:spcBef>
              <a:spcAft>
                <a:spcPts val="0"/>
              </a:spcAft>
              <a:buClr>
                <a:srgbClr val="000000"/>
              </a:buClr>
              <a:buSzPts val="1500"/>
              <a:buFont typeface="Arial"/>
              <a:buNone/>
            </a:pPr>
            <a:endParaRPr sz="1500" b="0" i="0" u="none" strike="noStrike" cap="none">
              <a:solidFill>
                <a:srgbClr val="2B3D2D"/>
              </a:solidFill>
              <a:latin typeface="Times New Roman"/>
              <a:ea typeface="Times New Roman"/>
              <a:cs typeface="Times New Roman"/>
              <a:sym typeface="Times New Roman"/>
            </a:endParaRPr>
          </a:p>
          <a:p>
            <a:pPr marL="0" marR="0" lvl="0" indent="0" algn="just" rtl="0">
              <a:lnSpc>
                <a:spcPct val="140001"/>
              </a:lnSpc>
              <a:spcBef>
                <a:spcPts val="0"/>
              </a:spcBef>
              <a:spcAft>
                <a:spcPts val="0"/>
              </a:spcAft>
              <a:buClr>
                <a:srgbClr val="000000"/>
              </a:buClr>
              <a:buSzPts val="1500"/>
              <a:buFont typeface="Arial"/>
              <a:buNone/>
            </a:pPr>
            <a:endParaRPr sz="1500" b="0" i="0" u="none" strike="noStrike" cap="none">
              <a:solidFill>
                <a:srgbClr val="2B3D2D"/>
              </a:solidFill>
              <a:latin typeface="Times New Roman"/>
              <a:ea typeface="Times New Roman"/>
              <a:cs typeface="Times New Roman"/>
              <a:sym typeface="Times New Roman"/>
            </a:endParaRPr>
          </a:p>
          <a:p>
            <a:pPr marL="0" marR="0" lvl="0" indent="0" algn="just" rtl="0">
              <a:lnSpc>
                <a:spcPct val="140001"/>
              </a:lnSpc>
              <a:spcBef>
                <a:spcPts val="0"/>
              </a:spcBef>
              <a:spcAft>
                <a:spcPts val="0"/>
              </a:spcAft>
              <a:buClr>
                <a:srgbClr val="000000"/>
              </a:buClr>
              <a:buSzPts val="1500"/>
              <a:buFont typeface="Arial"/>
              <a:buNone/>
            </a:pPr>
            <a:endParaRPr sz="1500" b="0" i="0" u="none" strike="noStrike" cap="none">
              <a:solidFill>
                <a:srgbClr val="2B3D2D"/>
              </a:solidFill>
              <a:latin typeface="Times New Roman"/>
              <a:ea typeface="Times New Roman"/>
              <a:cs typeface="Times New Roman"/>
              <a:sym typeface="Times New Roman"/>
            </a:endParaRPr>
          </a:p>
          <a:p>
            <a:pPr marL="0" marR="0" lvl="0" indent="0" algn="just" rtl="0">
              <a:lnSpc>
                <a:spcPct val="140001"/>
              </a:lnSpc>
              <a:spcBef>
                <a:spcPts val="0"/>
              </a:spcBef>
              <a:spcAft>
                <a:spcPts val="0"/>
              </a:spcAft>
              <a:buClr>
                <a:srgbClr val="000000"/>
              </a:buClr>
              <a:buSzPts val="1100"/>
              <a:buFont typeface="Arial"/>
              <a:buNone/>
            </a:pPr>
            <a:endParaRPr sz="1100" b="0" i="1" u="none" strike="noStrike" cap="none">
              <a:solidFill>
                <a:srgbClr val="2B3D2D"/>
              </a:solidFill>
              <a:latin typeface="Times New Roman"/>
              <a:ea typeface="Times New Roman"/>
              <a:cs typeface="Times New Roman"/>
              <a:sym typeface="Times New Roman"/>
            </a:endParaRPr>
          </a:p>
        </p:txBody>
      </p:sp>
      <p:cxnSp>
        <p:nvCxnSpPr>
          <p:cNvPr id="34" name="Google Shape;34;p8"/>
          <p:cNvCxnSpPr/>
          <p:nvPr/>
        </p:nvCxnSpPr>
        <p:spPr>
          <a:xfrm>
            <a:off x="-38100" y="673469"/>
            <a:ext cx="9182100" cy="300"/>
          </a:xfrm>
          <a:prstGeom prst="straightConnector1">
            <a:avLst/>
          </a:prstGeom>
          <a:noFill/>
          <a:ln w="9525" cap="flat" cmpd="sng">
            <a:solidFill>
              <a:srgbClr val="2B3D2D"/>
            </a:solidFill>
            <a:prstDash val="solid"/>
            <a:round/>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
        <p:cNvGrpSpPr/>
        <p:nvPr/>
      </p:nvGrpSpPr>
      <p:grpSpPr>
        <a:xfrm>
          <a:off x="0" y="0"/>
          <a:ext cx="0" cy="0"/>
          <a:chOff x="0" y="0"/>
          <a:chExt cx="0" cy="0"/>
        </a:xfrm>
      </p:grpSpPr>
      <p:cxnSp>
        <p:nvCxnSpPr>
          <p:cNvPr id="39" name="Google Shape;39;p9"/>
          <p:cNvCxnSpPr/>
          <p:nvPr/>
        </p:nvCxnSpPr>
        <p:spPr>
          <a:xfrm>
            <a:off x="-19057" y="713859"/>
            <a:ext cx="9182100" cy="300"/>
          </a:xfrm>
          <a:prstGeom prst="straightConnector1">
            <a:avLst/>
          </a:prstGeom>
          <a:noFill/>
          <a:ln w="9525" cap="flat" cmpd="sng">
            <a:solidFill>
              <a:srgbClr val="2B3D2D"/>
            </a:solidFill>
            <a:prstDash val="solid"/>
            <a:round/>
            <a:headEnd type="none" w="sm" len="sm"/>
            <a:tailEnd type="none" w="sm" len="sm"/>
          </a:ln>
        </p:spPr>
      </p:cxnSp>
      <p:sp>
        <p:nvSpPr>
          <p:cNvPr id="40" name="Google Shape;40;p9"/>
          <p:cNvSpPr/>
          <p:nvPr/>
        </p:nvSpPr>
        <p:spPr>
          <a:xfrm>
            <a:off x="0" y="151554"/>
            <a:ext cx="4041900" cy="473789"/>
          </a:xfrm>
          <a:prstGeom prst="rect">
            <a:avLst/>
          </a:prstGeom>
          <a:noFill/>
          <a:ln>
            <a:noFill/>
          </a:ln>
        </p:spPr>
        <p:txBody>
          <a:bodyPr spcFirstLastPara="1" wrap="square" lIns="91425" tIns="45700" rIns="91425" bIns="45700" anchor="b" anchorCtr="0">
            <a:noAutofit/>
          </a:bodyPr>
          <a:lstStyle/>
          <a:p>
            <a:pPr marL="0" marR="0" lvl="0" indent="0" algn="l" rtl="0">
              <a:lnSpc>
                <a:spcPct val="80001"/>
              </a:lnSpc>
              <a:spcBef>
                <a:spcPts val="0"/>
              </a:spcBef>
              <a:spcAft>
                <a:spcPts val="0"/>
              </a:spcAft>
              <a:buClr>
                <a:srgbClr val="000000"/>
              </a:buClr>
              <a:buSzPts val="2325"/>
              <a:buFont typeface="Arial"/>
              <a:buNone/>
            </a:pPr>
            <a:r>
              <a:rPr lang="en-US" sz="2025" b="1" i="0" u="none" strike="noStrike" cap="none">
                <a:solidFill>
                  <a:srgbClr val="2B3D2D"/>
                </a:solidFill>
                <a:latin typeface="Times New Roman"/>
                <a:ea typeface="Times New Roman"/>
                <a:cs typeface="Times New Roman"/>
                <a:sym typeface="Times New Roman"/>
              </a:rPr>
              <a:t>Datasets</a:t>
            </a:r>
            <a:endParaRPr sz="2025" b="1" i="0" u="none" strike="noStrike" cap="none">
              <a:solidFill>
                <a:srgbClr val="000000"/>
              </a:solidFill>
              <a:latin typeface="Times New Roman"/>
              <a:ea typeface="Times New Roman"/>
              <a:cs typeface="Times New Roman"/>
              <a:sym typeface="Times New Roman"/>
            </a:endParaRPr>
          </a:p>
        </p:txBody>
      </p:sp>
      <p:graphicFrame>
        <p:nvGraphicFramePr>
          <p:cNvPr id="41" name="Google Shape;41;p9"/>
          <p:cNvGraphicFramePr/>
          <p:nvPr/>
        </p:nvGraphicFramePr>
        <p:xfrm>
          <a:off x="169475" y="921275"/>
          <a:ext cx="3000000" cy="3000000"/>
        </p:xfrm>
        <a:graphic>
          <a:graphicData uri="http://schemas.openxmlformats.org/drawingml/2006/table">
            <a:tbl>
              <a:tblPr>
                <a:noFill/>
                <a:tableStyleId>{C455986C-D7BB-421E-9FE7-99E7DF827B28}</a:tableStyleId>
              </a:tblPr>
              <a:tblGrid>
                <a:gridCol w="2847325">
                  <a:extLst>
                    <a:ext uri="{9D8B030D-6E8A-4147-A177-3AD203B41FA5}">
                      <a16:colId xmlns:a16="http://schemas.microsoft.com/office/drawing/2014/main" val="20000"/>
                    </a:ext>
                  </a:extLst>
                </a:gridCol>
                <a:gridCol w="2847325">
                  <a:extLst>
                    <a:ext uri="{9D8B030D-6E8A-4147-A177-3AD203B41FA5}">
                      <a16:colId xmlns:a16="http://schemas.microsoft.com/office/drawing/2014/main" val="20001"/>
                    </a:ext>
                  </a:extLst>
                </a:gridCol>
                <a:gridCol w="2847325">
                  <a:extLst>
                    <a:ext uri="{9D8B030D-6E8A-4147-A177-3AD203B41FA5}">
                      <a16:colId xmlns:a16="http://schemas.microsoft.com/office/drawing/2014/main" val="20002"/>
                    </a:ext>
                  </a:extLst>
                </a:gridCol>
              </a:tblGrid>
              <a:tr h="585225">
                <a:tc>
                  <a:txBody>
                    <a:bodyPr/>
                    <a:lstStyle/>
                    <a:p>
                      <a:pPr marL="0" marR="0" lvl="0" indent="0" algn="l" rtl="0">
                        <a:lnSpc>
                          <a:spcPct val="100000"/>
                        </a:lnSpc>
                        <a:spcBef>
                          <a:spcPts val="0"/>
                        </a:spcBef>
                        <a:spcAft>
                          <a:spcPts val="0"/>
                        </a:spcAft>
                        <a:buClr>
                          <a:srgbClr val="000000"/>
                        </a:buClr>
                        <a:buSzPts val="1500"/>
                        <a:buFont typeface="Arial"/>
                        <a:buNone/>
                      </a:pPr>
                      <a:r>
                        <a:rPr lang="en-US" sz="1500" b="1" u="none" strike="noStrike" cap="none">
                          <a:latin typeface="Times New Roman"/>
                          <a:ea typeface="Times New Roman"/>
                          <a:cs typeface="Times New Roman"/>
                          <a:sym typeface="Times New Roman"/>
                        </a:rPr>
                        <a:t>Dataset</a:t>
                      </a:r>
                      <a:endParaRPr sz="15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b="1" u="none" strike="noStrike" cap="none">
                          <a:latin typeface="Times New Roman"/>
                          <a:ea typeface="Times New Roman"/>
                          <a:cs typeface="Times New Roman"/>
                          <a:sym typeface="Times New Roman"/>
                        </a:rPr>
                        <a:t>Coverage</a:t>
                      </a:r>
                      <a:endParaRPr sz="15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b="1" u="none" strike="noStrike" cap="none">
                          <a:latin typeface="Times New Roman"/>
                          <a:ea typeface="Times New Roman"/>
                          <a:cs typeface="Times New Roman"/>
                          <a:sym typeface="Times New Roman"/>
                        </a:rPr>
                        <a:t>Key Attributes</a:t>
                      </a:r>
                      <a:endParaRPr sz="15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1560675">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EV Charging Data(</a:t>
                      </a:r>
                      <a:r>
                        <a:rPr lang="en-US" sz="1500" u="sng" strike="noStrike" cap="none">
                          <a:solidFill>
                            <a:schemeClr val="hlink"/>
                          </a:solidFill>
                          <a:latin typeface="Times New Roman"/>
                          <a:ea typeface="Times New Roman"/>
                          <a:cs typeface="Times New Roman"/>
                          <a:sym typeface="Times New Roman"/>
                          <a:hlinkClick r:id="rId3"/>
                        </a:rPr>
                        <a:t>Source</a:t>
                      </a:r>
                      <a:r>
                        <a:rPr lang="en-US" sz="1500" u="none" strike="noStrike" cap="none">
                          <a:latin typeface="Times New Roman"/>
                          <a:ea typeface="Times New Roman"/>
                          <a:cs typeface="Times New Roman"/>
                          <a:sym typeface="Times New Roman"/>
                        </a:rPr>
                        <a:t>)</a:t>
                      </a:r>
                      <a:endParaRPr sz="15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United States(~84,539 public and private charging stations)</a:t>
                      </a:r>
                      <a:endParaRPr sz="15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Latitude, Longitude, Accessibility, Number of Charging Stations, Available Ports, Charger Type, Technical Specifications</a:t>
                      </a:r>
                      <a:endParaRPr sz="15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910375">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Population Data (2025)(</a:t>
                      </a:r>
                      <a:r>
                        <a:rPr lang="en-US" sz="1500" u="sng" strike="noStrike" cap="none">
                          <a:solidFill>
                            <a:schemeClr val="hlink"/>
                          </a:solidFill>
                          <a:latin typeface="Times New Roman"/>
                          <a:ea typeface="Times New Roman"/>
                          <a:cs typeface="Times New Roman"/>
                          <a:sym typeface="Times New Roman"/>
                          <a:hlinkClick r:id="rId4"/>
                        </a:rPr>
                        <a:t>Source</a:t>
                      </a:r>
                      <a:r>
                        <a:rPr lang="en-US" sz="1500" u="none" strike="noStrike" cap="none">
                          <a:latin typeface="Times New Roman"/>
                          <a:ea typeface="Times New Roman"/>
                          <a:cs typeface="Times New Roman"/>
                          <a:sym typeface="Times New Roman"/>
                        </a:rPr>
                        <a:t>)</a:t>
                      </a:r>
                      <a:endParaRPr sz="15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U.S. Cities(19483 records)</a:t>
                      </a:r>
                      <a:endParaRPr sz="15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City Name, State, Population Estimate (2025)</a:t>
                      </a:r>
                      <a:endParaRPr sz="15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910375">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Traffic Data (TomTom Traffic Index)(</a:t>
                      </a:r>
                      <a:r>
                        <a:rPr lang="en-US" sz="1500" u="sng" strike="noStrike" cap="none">
                          <a:solidFill>
                            <a:schemeClr val="hlink"/>
                          </a:solidFill>
                          <a:latin typeface="Times New Roman"/>
                          <a:ea typeface="Times New Roman"/>
                          <a:cs typeface="Times New Roman"/>
                          <a:sym typeface="Times New Roman"/>
                          <a:hlinkClick r:id="rId5"/>
                        </a:rPr>
                        <a:t>Source</a:t>
                      </a:r>
                      <a:r>
                        <a:rPr lang="en-US" sz="1500" u="none" strike="noStrike" cap="none">
                          <a:latin typeface="Times New Roman"/>
                          <a:ea typeface="Times New Roman"/>
                          <a:cs typeface="Times New Roman"/>
                          <a:sym typeface="Times New Roman"/>
                        </a:rPr>
                        <a:t>)</a:t>
                      </a:r>
                      <a:endParaRPr sz="15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91 U.S. Cities</a:t>
                      </a:r>
                      <a:endParaRPr sz="15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500"/>
                        <a:buFont typeface="Arial"/>
                        <a:buNone/>
                      </a:pPr>
                      <a:r>
                        <a:rPr lang="en-US" sz="1500" u="none" strike="noStrike" cap="none">
                          <a:latin typeface="Times New Roman"/>
                          <a:ea typeface="Times New Roman"/>
                          <a:cs typeface="Times New Roman"/>
                          <a:sym typeface="Times New Roman"/>
                        </a:rPr>
                        <a:t>Congestion Level (%), Rush-Hour Time Loss, Traffic Indicators</a:t>
                      </a:r>
                      <a:endParaRPr sz="15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45"/>
        <p:cNvGrpSpPr/>
        <p:nvPr/>
      </p:nvGrpSpPr>
      <p:grpSpPr>
        <a:xfrm>
          <a:off x="0" y="0"/>
          <a:ext cx="0" cy="0"/>
          <a:chOff x="0" y="0"/>
          <a:chExt cx="0" cy="0"/>
        </a:xfrm>
      </p:grpSpPr>
      <p:sp>
        <p:nvSpPr>
          <p:cNvPr id="46" name="Google Shape;46;p10"/>
          <p:cNvSpPr/>
          <p:nvPr/>
        </p:nvSpPr>
        <p:spPr>
          <a:xfrm>
            <a:off x="46125" y="137804"/>
            <a:ext cx="3228600" cy="383211"/>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Clr>
                <a:srgbClr val="000000"/>
              </a:buClr>
              <a:buSzPts val="2040"/>
              <a:buFont typeface="Arial"/>
              <a:buNone/>
            </a:pPr>
            <a:r>
              <a:rPr lang="en-US" sz="2040" b="1" i="0" u="none" strike="noStrike" cap="none">
                <a:solidFill>
                  <a:srgbClr val="2B3D2D"/>
                </a:solidFill>
                <a:latin typeface="Times New Roman"/>
                <a:ea typeface="Times New Roman"/>
                <a:cs typeface="Times New Roman"/>
                <a:sym typeface="Times New Roman"/>
              </a:rPr>
              <a:t>Data</a:t>
            </a:r>
            <a:r>
              <a:rPr lang="en-US" sz="2040" b="0" i="0" u="none" strike="noStrike" cap="none">
                <a:solidFill>
                  <a:srgbClr val="2B3D2D"/>
                </a:solidFill>
                <a:latin typeface="Times New Roman"/>
                <a:ea typeface="Times New Roman"/>
                <a:cs typeface="Times New Roman"/>
                <a:sym typeface="Times New Roman"/>
              </a:rPr>
              <a:t> </a:t>
            </a:r>
            <a:r>
              <a:rPr lang="en-US" sz="2040" b="1" i="0" u="none" strike="noStrike" cap="none">
                <a:solidFill>
                  <a:srgbClr val="2B3D2D"/>
                </a:solidFill>
                <a:latin typeface="Times New Roman"/>
                <a:ea typeface="Times New Roman"/>
                <a:cs typeface="Times New Roman"/>
                <a:sym typeface="Times New Roman"/>
              </a:rPr>
              <a:t>Cleaning</a:t>
            </a:r>
            <a:endParaRPr sz="2040" b="1" i="0" u="none" strike="noStrike" cap="none">
              <a:solidFill>
                <a:srgbClr val="000000"/>
              </a:solidFill>
              <a:latin typeface="Times New Roman"/>
              <a:ea typeface="Times New Roman"/>
              <a:cs typeface="Times New Roman"/>
              <a:sym typeface="Times New Roman"/>
            </a:endParaRPr>
          </a:p>
        </p:txBody>
      </p:sp>
      <p:graphicFrame>
        <p:nvGraphicFramePr>
          <p:cNvPr id="47" name="Google Shape;47;p10"/>
          <p:cNvGraphicFramePr/>
          <p:nvPr/>
        </p:nvGraphicFramePr>
        <p:xfrm>
          <a:off x="316259" y="832498"/>
          <a:ext cx="3000000" cy="3000000"/>
        </p:xfrm>
        <a:graphic>
          <a:graphicData uri="http://schemas.openxmlformats.org/drawingml/2006/table">
            <a:tbl>
              <a:tblPr>
                <a:noFill/>
                <a:tableStyleId>{C455986C-D7BB-421E-9FE7-99E7DF827B28}</a:tableStyleId>
              </a:tblPr>
              <a:tblGrid>
                <a:gridCol w="2840950">
                  <a:extLst>
                    <a:ext uri="{9D8B030D-6E8A-4147-A177-3AD203B41FA5}">
                      <a16:colId xmlns:a16="http://schemas.microsoft.com/office/drawing/2014/main" val="20000"/>
                    </a:ext>
                  </a:extLst>
                </a:gridCol>
                <a:gridCol w="2840950">
                  <a:extLst>
                    <a:ext uri="{9D8B030D-6E8A-4147-A177-3AD203B41FA5}">
                      <a16:colId xmlns:a16="http://schemas.microsoft.com/office/drawing/2014/main" val="20001"/>
                    </a:ext>
                  </a:extLst>
                </a:gridCol>
                <a:gridCol w="2840950">
                  <a:extLst>
                    <a:ext uri="{9D8B030D-6E8A-4147-A177-3AD203B41FA5}">
                      <a16:colId xmlns:a16="http://schemas.microsoft.com/office/drawing/2014/main" val="20002"/>
                    </a:ext>
                  </a:extLst>
                </a:gridCol>
              </a:tblGrid>
              <a:tr h="417350">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Dataset</a:t>
                      </a:r>
                      <a:endParaRPr sz="11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Processing Performed</a:t>
                      </a:r>
                      <a:endParaRPr sz="11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Output</a:t>
                      </a:r>
                      <a:endParaRPr sz="11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9348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EV Charging Stations</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Filtered only public stations; Removed duplicates; handled missing values; standardized city names &amp; ZIP codes; validated locations</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Cleaned EV charging infrastructure dataset(78954 rows)</a:t>
                      </a: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7511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Population Data (2025)</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Checked completeness; standardized city identifiers; aligned geographic units with charging station data</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City-level population dataset(No rows removed)</a:t>
                      </a: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9348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Traffic Congestion Data</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Cleaned missing/inconsistent entries; converted congestion indicators to numerical format; standardized location identifiers</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Structured traffic congestion dataset</a:t>
                      </a: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9348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Data Integration</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Merged EV charging and population datasets by city; integrated traffic data; verified merge accuracy and resolved inconsistencies</a:t>
                      </a: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Unified dataset for EV infrastructure, population demand, and traffic analysis</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(78954 rows )</a:t>
                      </a: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bl>
          </a:graphicData>
        </a:graphic>
      </p:graphicFrame>
      <p:cxnSp>
        <p:nvCxnSpPr>
          <p:cNvPr id="48" name="Google Shape;48;p10"/>
          <p:cNvCxnSpPr/>
          <p:nvPr/>
        </p:nvCxnSpPr>
        <p:spPr>
          <a:xfrm>
            <a:off x="-13382" y="634125"/>
            <a:ext cx="9182100" cy="300"/>
          </a:xfrm>
          <a:prstGeom prst="straightConnector1">
            <a:avLst/>
          </a:prstGeom>
          <a:noFill/>
          <a:ln w="9525" cap="flat" cmpd="sng">
            <a:solidFill>
              <a:srgbClr val="2B3D2D"/>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2"/>
        <p:cNvGrpSpPr/>
        <p:nvPr/>
      </p:nvGrpSpPr>
      <p:grpSpPr>
        <a:xfrm>
          <a:off x="0" y="0"/>
          <a:ext cx="0" cy="0"/>
          <a:chOff x="0" y="0"/>
          <a:chExt cx="0" cy="0"/>
        </a:xfrm>
      </p:grpSpPr>
      <p:sp>
        <p:nvSpPr>
          <p:cNvPr id="53" name="Google Shape;53;p11"/>
          <p:cNvSpPr/>
          <p:nvPr/>
        </p:nvSpPr>
        <p:spPr>
          <a:xfrm>
            <a:off x="89830" y="116878"/>
            <a:ext cx="3619200" cy="501289"/>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Clr>
                <a:srgbClr val="000000"/>
              </a:buClr>
              <a:buSzPts val="2040"/>
              <a:buFont typeface="Arial"/>
              <a:buNone/>
            </a:pPr>
            <a:r>
              <a:rPr lang="en-US" sz="2040" b="1" i="0" u="none" strike="noStrike" cap="none">
                <a:solidFill>
                  <a:srgbClr val="2B3D2D"/>
                </a:solidFill>
                <a:latin typeface="Times New Roman"/>
                <a:ea typeface="Times New Roman"/>
                <a:cs typeface="Times New Roman"/>
                <a:sym typeface="Times New Roman"/>
              </a:rPr>
              <a:t>Feature</a:t>
            </a:r>
            <a:r>
              <a:rPr lang="en-US" sz="2040" b="0" i="0" u="none" strike="noStrike" cap="none">
                <a:solidFill>
                  <a:srgbClr val="2B3D2D"/>
                </a:solidFill>
                <a:latin typeface="Times New Roman"/>
                <a:ea typeface="Times New Roman"/>
                <a:cs typeface="Times New Roman"/>
                <a:sym typeface="Times New Roman"/>
              </a:rPr>
              <a:t> </a:t>
            </a:r>
            <a:r>
              <a:rPr lang="en-US" sz="2040" b="1" i="0" u="none" strike="noStrike" cap="none">
                <a:solidFill>
                  <a:srgbClr val="2B3D2D"/>
                </a:solidFill>
                <a:latin typeface="Times New Roman"/>
                <a:ea typeface="Times New Roman"/>
                <a:cs typeface="Times New Roman"/>
                <a:sym typeface="Times New Roman"/>
              </a:rPr>
              <a:t>Engineering</a:t>
            </a:r>
            <a:endParaRPr sz="2040" b="1" i="0" u="none" strike="noStrike" cap="none">
              <a:solidFill>
                <a:srgbClr val="000000"/>
              </a:solidFill>
              <a:latin typeface="Times New Roman"/>
              <a:ea typeface="Times New Roman"/>
              <a:cs typeface="Times New Roman"/>
              <a:sym typeface="Times New Roman"/>
            </a:endParaRPr>
          </a:p>
        </p:txBody>
      </p:sp>
      <p:sp>
        <p:nvSpPr>
          <p:cNvPr id="54" name="Google Shape;54;p11"/>
          <p:cNvSpPr/>
          <p:nvPr/>
        </p:nvSpPr>
        <p:spPr>
          <a:xfrm>
            <a:off x="268132" y="914700"/>
            <a:ext cx="8090613" cy="3989550"/>
          </a:xfrm>
          <a:prstGeom prst="rect">
            <a:avLst/>
          </a:prstGeom>
          <a:noFill/>
          <a:ln>
            <a:noFill/>
          </a:ln>
        </p:spPr>
        <p:txBody>
          <a:bodyPr spcFirstLastPara="1" wrap="square" lIns="91425" tIns="45700" rIns="91425" bIns="45700" anchor="t" anchorCtr="0">
            <a:noAutofit/>
          </a:bodyPr>
          <a:lstStyle/>
          <a:p>
            <a:pPr marL="0" marR="0" lvl="0" indent="0" algn="just" rtl="0">
              <a:lnSpc>
                <a:spcPct val="140001"/>
              </a:lnSpc>
              <a:spcBef>
                <a:spcPts val="1200"/>
              </a:spcBef>
              <a:spcAft>
                <a:spcPts val="0"/>
              </a:spcAft>
              <a:buNone/>
            </a:pPr>
            <a:r>
              <a:rPr lang="en-US" sz="1500">
                <a:solidFill>
                  <a:srgbClr val="2B3D2D"/>
                </a:solidFill>
                <a:latin typeface="Times New Roman"/>
                <a:ea typeface="Times New Roman"/>
                <a:cs typeface="Times New Roman"/>
                <a:sym typeface="Times New Roman"/>
              </a:rPr>
              <a:t>We take raw demographic and traffic data and level it to demand indicators to assess the sufficiency of EVSE in cities.</a:t>
            </a:r>
            <a:endParaRPr sz="1500">
              <a:solidFill>
                <a:srgbClr val="2B3D2D"/>
              </a:solidFill>
              <a:latin typeface="Times New Roman"/>
              <a:ea typeface="Times New Roman"/>
              <a:cs typeface="Times New Roman"/>
              <a:sym typeface="Times New Roman"/>
            </a:endParaRPr>
          </a:p>
          <a:p>
            <a:pPr marL="457200" marR="0" lvl="0" indent="-323850" algn="just" rtl="0">
              <a:lnSpc>
                <a:spcPct val="140001"/>
              </a:lnSpc>
              <a:spcBef>
                <a:spcPts val="120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Population per Station: Measures charging infrastructure availability per resident.</a:t>
            </a:r>
            <a:endParaRPr sz="1500">
              <a:solidFill>
                <a:srgbClr val="2B3D2D"/>
              </a:solidFill>
              <a:latin typeface="Times New Roman"/>
              <a:ea typeface="Times New Roman"/>
              <a:cs typeface="Times New Roman"/>
              <a:sym typeface="Times New Roman"/>
            </a:endParaRPr>
          </a:p>
          <a:p>
            <a:pPr marL="457200" marR="0" lvl="0" indent="-323850" algn="just" rtl="0">
              <a:lnSpc>
                <a:spcPct val="140001"/>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Demand Pressure: Captures potential charging demand using a log-transformed population-to-station ratio.</a:t>
            </a:r>
            <a:endParaRPr sz="1500">
              <a:solidFill>
                <a:srgbClr val="2B3D2D"/>
              </a:solidFill>
              <a:latin typeface="Times New Roman"/>
              <a:ea typeface="Times New Roman"/>
              <a:cs typeface="Times New Roman"/>
              <a:sym typeface="Times New Roman"/>
            </a:endParaRPr>
          </a:p>
          <a:p>
            <a:pPr marL="457200" marR="0" lvl="0" indent="-323850" algn="just" rtl="0">
              <a:lnSpc>
                <a:spcPct val="140001"/>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Congestion Pressure: Represents traffic demand relative to available charging stations.</a:t>
            </a:r>
            <a:endParaRPr sz="1500">
              <a:solidFill>
                <a:srgbClr val="2B3D2D"/>
              </a:solidFill>
              <a:latin typeface="Times New Roman"/>
              <a:ea typeface="Times New Roman"/>
              <a:cs typeface="Times New Roman"/>
              <a:sym typeface="Times New Roman"/>
            </a:endParaRPr>
          </a:p>
          <a:p>
            <a:pPr marL="457200" marR="0" lvl="0" indent="-323850" algn="just" rtl="0">
              <a:lnSpc>
                <a:spcPct val="140001"/>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Underservice Score: Combines demand and congestion pressures to identify underserved cities.</a:t>
            </a:r>
            <a:endParaRPr sz="1500">
              <a:solidFill>
                <a:srgbClr val="2B3D2D"/>
              </a:solidFill>
              <a:latin typeface="Times New Roman"/>
              <a:ea typeface="Times New Roman"/>
              <a:cs typeface="Times New Roman"/>
              <a:sym typeface="Times New Roman"/>
            </a:endParaRPr>
          </a:p>
          <a:p>
            <a:pPr marL="457200" marR="0" lvl="0" indent="0" algn="just" rtl="0">
              <a:lnSpc>
                <a:spcPct val="140001"/>
              </a:lnSpc>
              <a:spcBef>
                <a:spcPts val="1200"/>
              </a:spcBef>
              <a:spcAft>
                <a:spcPts val="0"/>
              </a:spcAft>
              <a:buClr>
                <a:srgbClr val="000000"/>
              </a:buClr>
              <a:buSzPts val="1500"/>
              <a:buFont typeface="Arial"/>
              <a:buNone/>
            </a:pPr>
            <a:endParaRPr sz="1500">
              <a:solidFill>
                <a:srgbClr val="2B3D2D"/>
              </a:solidFill>
              <a:latin typeface="Times New Roman"/>
              <a:ea typeface="Times New Roman"/>
              <a:cs typeface="Times New Roman"/>
              <a:sym typeface="Times New Roman"/>
            </a:endParaRPr>
          </a:p>
          <a:p>
            <a:pPr marL="457200" marR="0" lvl="0" indent="0" algn="just" rtl="0">
              <a:lnSpc>
                <a:spcPct val="140001"/>
              </a:lnSpc>
              <a:spcBef>
                <a:spcPts val="1200"/>
              </a:spcBef>
              <a:spcAft>
                <a:spcPts val="0"/>
              </a:spcAft>
              <a:buClr>
                <a:srgbClr val="000000"/>
              </a:buClr>
              <a:buSzPts val="1500"/>
              <a:buFont typeface="Arial"/>
              <a:buNone/>
            </a:pPr>
            <a:endParaRPr sz="1500">
              <a:solidFill>
                <a:srgbClr val="2B3D2D"/>
              </a:solidFill>
              <a:latin typeface="Times New Roman"/>
              <a:ea typeface="Times New Roman"/>
              <a:cs typeface="Times New Roman"/>
              <a:sym typeface="Times New Roman"/>
            </a:endParaRPr>
          </a:p>
        </p:txBody>
      </p:sp>
      <p:cxnSp>
        <p:nvCxnSpPr>
          <p:cNvPr id="55" name="Google Shape;55;p11"/>
          <p:cNvCxnSpPr/>
          <p:nvPr/>
        </p:nvCxnSpPr>
        <p:spPr>
          <a:xfrm>
            <a:off x="-101543" y="645086"/>
            <a:ext cx="9182100" cy="300"/>
          </a:xfrm>
          <a:prstGeom prst="straightConnector1">
            <a:avLst/>
          </a:prstGeom>
          <a:noFill/>
          <a:ln w="9525" cap="flat" cmpd="sng">
            <a:solidFill>
              <a:srgbClr val="2B3D2D"/>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9"/>
        <p:cNvGrpSpPr/>
        <p:nvPr/>
      </p:nvGrpSpPr>
      <p:grpSpPr>
        <a:xfrm>
          <a:off x="0" y="0"/>
          <a:ext cx="0" cy="0"/>
          <a:chOff x="0" y="0"/>
          <a:chExt cx="0" cy="0"/>
        </a:xfrm>
      </p:grpSpPr>
      <p:cxnSp>
        <p:nvCxnSpPr>
          <p:cNvPr id="60" name="Google Shape;60;p12"/>
          <p:cNvCxnSpPr/>
          <p:nvPr/>
        </p:nvCxnSpPr>
        <p:spPr>
          <a:xfrm>
            <a:off x="-38100" y="693767"/>
            <a:ext cx="9182100" cy="300"/>
          </a:xfrm>
          <a:prstGeom prst="straightConnector1">
            <a:avLst/>
          </a:prstGeom>
          <a:noFill/>
          <a:ln w="9525" cap="flat" cmpd="sng">
            <a:solidFill>
              <a:srgbClr val="2B3D2D"/>
            </a:solidFill>
            <a:prstDash val="solid"/>
            <a:round/>
            <a:headEnd type="none" w="sm" len="sm"/>
            <a:tailEnd type="none" w="sm" len="sm"/>
          </a:ln>
        </p:spPr>
      </p:cxnSp>
      <p:sp>
        <p:nvSpPr>
          <p:cNvPr id="61" name="Google Shape;61;p12"/>
          <p:cNvSpPr/>
          <p:nvPr/>
        </p:nvSpPr>
        <p:spPr>
          <a:xfrm>
            <a:off x="55003" y="90277"/>
            <a:ext cx="3789634" cy="393569"/>
          </a:xfrm>
          <a:prstGeom prst="rect">
            <a:avLst/>
          </a:prstGeom>
          <a:noFill/>
          <a:ln>
            <a:noFill/>
          </a:ln>
        </p:spPr>
        <p:txBody>
          <a:bodyPr spcFirstLastPara="1" wrap="square" lIns="91425" tIns="45700" rIns="91425" bIns="45700" anchor="b" anchorCtr="0">
            <a:noAutofit/>
          </a:bodyPr>
          <a:lstStyle/>
          <a:p>
            <a:pPr marL="0" marR="0" lvl="0" indent="0" algn="l" rtl="0">
              <a:lnSpc>
                <a:spcPct val="80001"/>
              </a:lnSpc>
              <a:spcBef>
                <a:spcPts val="0"/>
              </a:spcBef>
              <a:spcAft>
                <a:spcPts val="0"/>
              </a:spcAft>
              <a:buClr>
                <a:srgbClr val="000000"/>
              </a:buClr>
              <a:buSzPts val="2325"/>
              <a:buFont typeface="Arial"/>
              <a:buNone/>
            </a:pPr>
            <a:r>
              <a:rPr lang="en-US" sz="2025" b="1" i="0" u="none" strike="noStrike" cap="none">
                <a:solidFill>
                  <a:srgbClr val="2B3D2D"/>
                </a:solidFill>
                <a:latin typeface="Times New Roman"/>
                <a:ea typeface="Times New Roman"/>
                <a:cs typeface="Times New Roman"/>
                <a:sym typeface="Times New Roman"/>
              </a:rPr>
              <a:t>Exploratory</a:t>
            </a:r>
            <a:r>
              <a:rPr lang="en-US" sz="2025" b="0" i="0" u="none" strike="noStrike" cap="none">
                <a:solidFill>
                  <a:srgbClr val="2B3D2D"/>
                </a:solidFill>
                <a:latin typeface="Times New Roman"/>
                <a:ea typeface="Times New Roman"/>
                <a:cs typeface="Times New Roman"/>
                <a:sym typeface="Times New Roman"/>
              </a:rPr>
              <a:t> </a:t>
            </a:r>
            <a:r>
              <a:rPr lang="en-US" sz="2025" b="1" i="0" u="none" strike="noStrike" cap="none">
                <a:solidFill>
                  <a:srgbClr val="2B3D2D"/>
                </a:solidFill>
                <a:latin typeface="Times New Roman"/>
                <a:ea typeface="Times New Roman"/>
                <a:cs typeface="Times New Roman"/>
                <a:sym typeface="Times New Roman"/>
              </a:rPr>
              <a:t>Data</a:t>
            </a:r>
            <a:r>
              <a:rPr lang="en-US" sz="2025" b="0" i="0" u="none" strike="noStrike" cap="none">
                <a:solidFill>
                  <a:srgbClr val="2B3D2D"/>
                </a:solidFill>
                <a:latin typeface="Times New Roman"/>
                <a:ea typeface="Times New Roman"/>
                <a:cs typeface="Times New Roman"/>
                <a:sym typeface="Times New Roman"/>
              </a:rPr>
              <a:t> </a:t>
            </a:r>
            <a:r>
              <a:rPr lang="en-US" sz="2025" b="1" i="0" u="none" strike="noStrike" cap="none">
                <a:solidFill>
                  <a:srgbClr val="2B3D2D"/>
                </a:solidFill>
                <a:latin typeface="Times New Roman"/>
                <a:ea typeface="Times New Roman"/>
                <a:cs typeface="Times New Roman"/>
                <a:sym typeface="Times New Roman"/>
              </a:rPr>
              <a:t>Analysis</a:t>
            </a:r>
            <a:endParaRPr sz="2025" b="1" i="0" u="none" strike="noStrike" cap="none">
              <a:solidFill>
                <a:srgbClr val="000000"/>
              </a:solidFill>
              <a:latin typeface="Times New Roman"/>
              <a:ea typeface="Times New Roman"/>
              <a:cs typeface="Times New Roman"/>
              <a:sym typeface="Times New Roman"/>
            </a:endParaRPr>
          </a:p>
        </p:txBody>
      </p:sp>
      <p:pic>
        <p:nvPicPr>
          <p:cNvPr id="62" name="Google Shape;62;p12" title="Screenshot 2026-06-19 112432.png"/>
          <p:cNvPicPr preferRelativeResize="0"/>
          <p:nvPr/>
        </p:nvPicPr>
        <p:blipFill rotWithShape="1">
          <a:blip r:embed="rId3">
            <a:alphaModFix/>
          </a:blip>
          <a:srcRect/>
          <a:stretch/>
        </p:blipFill>
        <p:spPr>
          <a:xfrm>
            <a:off x="3411500" y="903389"/>
            <a:ext cx="2773851" cy="1582293"/>
          </a:xfrm>
          <a:prstGeom prst="rect">
            <a:avLst/>
          </a:prstGeom>
          <a:noFill/>
          <a:ln>
            <a:noFill/>
          </a:ln>
        </p:spPr>
      </p:pic>
      <p:pic>
        <p:nvPicPr>
          <p:cNvPr id="63" name="Google Shape;63;p12" title="Screenshot 2026-06-19 112505.png"/>
          <p:cNvPicPr preferRelativeResize="0"/>
          <p:nvPr/>
        </p:nvPicPr>
        <p:blipFill rotWithShape="1">
          <a:blip r:embed="rId4">
            <a:alphaModFix/>
          </a:blip>
          <a:srcRect t="3695" b="3695"/>
          <a:stretch/>
        </p:blipFill>
        <p:spPr>
          <a:xfrm>
            <a:off x="360975" y="903389"/>
            <a:ext cx="2773849" cy="1582592"/>
          </a:xfrm>
          <a:prstGeom prst="rect">
            <a:avLst/>
          </a:prstGeom>
          <a:noFill/>
          <a:ln>
            <a:noFill/>
          </a:ln>
        </p:spPr>
      </p:pic>
      <p:pic>
        <p:nvPicPr>
          <p:cNvPr id="64" name="Google Shape;64;p12" title="Screenshot 2026-05-25 192547.png"/>
          <p:cNvPicPr preferRelativeResize="0"/>
          <p:nvPr/>
        </p:nvPicPr>
        <p:blipFill rotWithShape="1">
          <a:blip r:embed="rId5">
            <a:alphaModFix/>
          </a:blip>
          <a:srcRect t="6673" b="6664"/>
          <a:stretch/>
        </p:blipFill>
        <p:spPr>
          <a:xfrm>
            <a:off x="6351825" y="902490"/>
            <a:ext cx="2610450" cy="1582592"/>
          </a:xfrm>
          <a:prstGeom prst="rect">
            <a:avLst/>
          </a:prstGeom>
          <a:noFill/>
          <a:ln>
            <a:noFill/>
          </a:ln>
        </p:spPr>
      </p:pic>
      <p:sp>
        <p:nvSpPr>
          <p:cNvPr id="65" name="Google Shape;65;p12"/>
          <p:cNvSpPr txBox="1"/>
          <p:nvPr/>
        </p:nvSpPr>
        <p:spPr>
          <a:xfrm>
            <a:off x="469800" y="2902229"/>
            <a:ext cx="8431200" cy="1969146"/>
          </a:xfrm>
          <a:prstGeom prst="rect">
            <a:avLst/>
          </a:prstGeom>
          <a:noFill/>
          <a:ln>
            <a:noFill/>
          </a:ln>
        </p:spPr>
        <p:txBody>
          <a:bodyPr spcFirstLastPara="1" wrap="square" lIns="91425" tIns="91425" rIns="91425" bIns="91425" anchor="t" anchorCtr="0">
            <a:noAutofit/>
          </a:bodyPr>
          <a:lstStyle/>
          <a:p>
            <a:pPr marL="457200" marR="0" lvl="0" indent="-325438" algn="l" rtl="0">
              <a:lnSpc>
                <a:spcPct val="80001"/>
              </a:lnSpc>
              <a:spcBef>
                <a:spcPts val="0"/>
              </a:spcBef>
              <a:spcAft>
                <a:spcPts val="0"/>
              </a:spcAft>
              <a:buClr>
                <a:srgbClr val="2B3D2D"/>
              </a:buClr>
              <a:buSzPts val="1525"/>
              <a:buFont typeface="Times New Roman"/>
              <a:buChar char="●"/>
            </a:pPr>
            <a:r>
              <a:rPr lang="en-US" sz="1525">
                <a:solidFill>
                  <a:srgbClr val="2B3D2D"/>
                </a:solidFill>
                <a:latin typeface="Times New Roman"/>
                <a:ea typeface="Times New Roman"/>
                <a:cs typeface="Times New Roman"/>
                <a:sym typeface="Times New Roman"/>
              </a:rPr>
              <a:t>Many of the fast-charging infrastructure is concentrated in California detailed in the report.</a:t>
            </a:r>
            <a:endParaRPr sz="1525">
              <a:solidFill>
                <a:srgbClr val="2B3D2D"/>
              </a:solidFill>
              <a:latin typeface="Times New Roman"/>
              <a:ea typeface="Times New Roman"/>
              <a:cs typeface="Times New Roman"/>
              <a:sym typeface="Times New Roman"/>
            </a:endParaRPr>
          </a:p>
          <a:p>
            <a:pPr marL="457200" marR="0" lvl="0" indent="0" algn="l" rtl="0">
              <a:lnSpc>
                <a:spcPct val="80001"/>
              </a:lnSpc>
              <a:spcBef>
                <a:spcPts val="0"/>
              </a:spcBef>
              <a:spcAft>
                <a:spcPts val="0"/>
              </a:spcAft>
              <a:buNone/>
            </a:pPr>
            <a:endParaRPr sz="1525">
              <a:solidFill>
                <a:srgbClr val="2B3D2D"/>
              </a:solidFill>
              <a:latin typeface="Times New Roman"/>
              <a:ea typeface="Times New Roman"/>
              <a:cs typeface="Times New Roman"/>
              <a:sym typeface="Times New Roman"/>
            </a:endParaRPr>
          </a:p>
          <a:p>
            <a:pPr marL="457200" marR="0" lvl="0" indent="-325438" algn="l" rtl="0">
              <a:lnSpc>
                <a:spcPct val="80001"/>
              </a:lnSpc>
              <a:spcBef>
                <a:spcPts val="0"/>
              </a:spcBef>
              <a:spcAft>
                <a:spcPts val="0"/>
              </a:spcAft>
              <a:buClr>
                <a:srgbClr val="2B3D2D"/>
              </a:buClr>
              <a:buSzPts val="1525"/>
              <a:buFont typeface="Times New Roman"/>
              <a:buChar char="●"/>
            </a:pPr>
            <a:r>
              <a:rPr lang="en-US" sz="1525">
                <a:solidFill>
                  <a:srgbClr val="2B3D2D"/>
                </a:solidFill>
                <a:latin typeface="Times New Roman"/>
                <a:ea typeface="Times New Roman"/>
                <a:cs typeface="Times New Roman"/>
                <a:sym typeface="Times New Roman"/>
              </a:rPr>
              <a:t>The deployment of level 2 charging also follows a similar pattern, but has more regional differences.</a:t>
            </a:r>
            <a:endParaRPr sz="1525">
              <a:solidFill>
                <a:srgbClr val="2B3D2D"/>
              </a:solidFill>
              <a:latin typeface="Times New Roman"/>
              <a:ea typeface="Times New Roman"/>
              <a:cs typeface="Times New Roman"/>
              <a:sym typeface="Times New Roman"/>
            </a:endParaRPr>
          </a:p>
          <a:p>
            <a:pPr marL="457200" marR="0" lvl="0" indent="0" algn="l" rtl="0">
              <a:lnSpc>
                <a:spcPct val="80001"/>
              </a:lnSpc>
              <a:spcBef>
                <a:spcPts val="0"/>
              </a:spcBef>
              <a:spcAft>
                <a:spcPts val="0"/>
              </a:spcAft>
              <a:buNone/>
            </a:pPr>
            <a:endParaRPr sz="1525">
              <a:solidFill>
                <a:srgbClr val="2B3D2D"/>
              </a:solidFill>
              <a:latin typeface="Times New Roman"/>
              <a:ea typeface="Times New Roman"/>
              <a:cs typeface="Times New Roman"/>
              <a:sym typeface="Times New Roman"/>
            </a:endParaRPr>
          </a:p>
          <a:p>
            <a:pPr marL="457200" marR="0" lvl="0" indent="-325438" algn="l" rtl="0">
              <a:lnSpc>
                <a:spcPct val="80001"/>
              </a:lnSpc>
              <a:spcBef>
                <a:spcPts val="0"/>
              </a:spcBef>
              <a:spcAft>
                <a:spcPts val="0"/>
              </a:spcAft>
              <a:buClr>
                <a:srgbClr val="2B3D2D"/>
              </a:buClr>
              <a:buSzPts val="1525"/>
              <a:buFont typeface="Times New Roman"/>
              <a:buChar char="●"/>
            </a:pPr>
            <a:r>
              <a:rPr lang="en-US" sz="1525">
                <a:solidFill>
                  <a:srgbClr val="2B3D2D"/>
                </a:solidFill>
                <a:latin typeface="Times New Roman"/>
                <a:ea typeface="Times New Roman"/>
                <a:cs typeface="Times New Roman"/>
                <a:sym typeface="Times New Roman"/>
              </a:rPr>
              <a:t>Stations are clustered around major population centers, while many regions have lower coverage.</a:t>
            </a:r>
            <a:endParaRPr sz="1525">
              <a:solidFill>
                <a:srgbClr val="2B3D2D"/>
              </a:solidFill>
              <a:latin typeface="Times New Roman"/>
              <a:ea typeface="Times New Roman"/>
              <a:cs typeface="Times New Roman"/>
              <a:sym typeface="Times New Roman"/>
            </a:endParaRPr>
          </a:p>
          <a:p>
            <a:pPr marL="457200" marR="0" lvl="0" indent="0" algn="l" rtl="0">
              <a:lnSpc>
                <a:spcPct val="80001"/>
              </a:lnSpc>
              <a:spcBef>
                <a:spcPts val="0"/>
              </a:spcBef>
              <a:spcAft>
                <a:spcPts val="0"/>
              </a:spcAft>
              <a:buNone/>
            </a:pPr>
            <a:endParaRPr sz="1525">
              <a:solidFill>
                <a:srgbClr val="2B3D2D"/>
              </a:solidFill>
              <a:latin typeface="Times New Roman"/>
              <a:ea typeface="Times New Roman"/>
              <a:cs typeface="Times New Roman"/>
              <a:sym typeface="Times New Roman"/>
            </a:endParaRPr>
          </a:p>
          <a:p>
            <a:pPr marL="457200" marR="0" lvl="0" indent="-325438" algn="l" rtl="0">
              <a:lnSpc>
                <a:spcPct val="80001"/>
              </a:lnSpc>
              <a:spcBef>
                <a:spcPts val="0"/>
              </a:spcBef>
              <a:spcAft>
                <a:spcPts val="0"/>
              </a:spcAft>
              <a:buClr>
                <a:srgbClr val="2B3D2D"/>
              </a:buClr>
              <a:buSzPts val="1525"/>
              <a:buFont typeface="Times New Roman"/>
              <a:buChar char="●"/>
            </a:pPr>
            <a:r>
              <a:rPr lang="en-US" sz="1525">
                <a:solidFill>
                  <a:srgbClr val="2B3D2D"/>
                </a:solidFill>
                <a:latin typeface="Times New Roman"/>
                <a:ea typeface="Times New Roman"/>
                <a:cs typeface="Times New Roman"/>
                <a:sym typeface="Times New Roman"/>
              </a:rPr>
              <a:t>Charging infrastructure is unevenly distributed across the U.S. Geospatial clustering reveals regional patterns and infrastructure gap hotspots that may not be apparent from city-level analysis alone.</a:t>
            </a:r>
            <a:endParaRPr sz="1525">
              <a:solidFill>
                <a:srgbClr val="2B3D2D"/>
              </a:solidFill>
              <a:latin typeface="Times New Roman"/>
              <a:ea typeface="Times New Roman"/>
              <a:cs typeface="Times New Roman"/>
              <a:sym typeface="Times New Roman"/>
            </a:endParaRPr>
          </a:p>
          <a:p>
            <a:pPr marL="457200" marR="0" lvl="0" indent="0" algn="l" rtl="0">
              <a:lnSpc>
                <a:spcPct val="80001"/>
              </a:lnSpc>
              <a:spcBef>
                <a:spcPts val="0"/>
              </a:spcBef>
              <a:spcAft>
                <a:spcPts val="0"/>
              </a:spcAft>
              <a:buNone/>
            </a:pPr>
            <a:endParaRPr sz="1325">
              <a:solidFill>
                <a:srgbClr val="2B3D2D"/>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69"/>
        <p:cNvGrpSpPr/>
        <p:nvPr/>
      </p:nvGrpSpPr>
      <p:grpSpPr>
        <a:xfrm>
          <a:off x="0" y="0"/>
          <a:ext cx="0" cy="0"/>
          <a:chOff x="0" y="0"/>
          <a:chExt cx="0" cy="0"/>
        </a:xfrm>
      </p:grpSpPr>
      <p:cxnSp>
        <p:nvCxnSpPr>
          <p:cNvPr id="70" name="Google Shape;70;p13"/>
          <p:cNvCxnSpPr/>
          <p:nvPr/>
        </p:nvCxnSpPr>
        <p:spPr>
          <a:xfrm>
            <a:off x="-101293" y="836732"/>
            <a:ext cx="9182160" cy="360"/>
          </a:xfrm>
          <a:prstGeom prst="straightConnector1">
            <a:avLst/>
          </a:prstGeom>
          <a:noFill/>
          <a:ln w="9525" cap="flat" cmpd="sng">
            <a:solidFill>
              <a:srgbClr val="2B3D2D"/>
            </a:solidFill>
            <a:prstDash val="solid"/>
            <a:round/>
            <a:headEnd type="none" w="sm" len="sm"/>
            <a:tailEnd type="none" w="sm" len="sm"/>
          </a:ln>
        </p:spPr>
      </p:cxnSp>
      <p:sp>
        <p:nvSpPr>
          <p:cNvPr id="71" name="Google Shape;71;p13"/>
          <p:cNvSpPr/>
          <p:nvPr/>
        </p:nvSpPr>
        <p:spPr>
          <a:xfrm>
            <a:off x="220075" y="1073597"/>
            <a:ext cx="3093900" cy="4069800"/>
          </a:xfrm>
          <a:prstGeom prst="rect">
            <a:avLst/>
          </a:prstGeom>
          <a:noFill/>
          <a:ln>
            <a:noFill/>
          </a:ln>
        </p:spPr>
        <p:txBody>
          <a:bodyPr spcFirstLastPara="1" wrap="square" lIns="91425" tIns="45700" rIns="91425" bIns="45700" anchor="t" anchorCtr="0">
            <a:noAutofit/>
          </a:bodyPr>
          <a:lstStyle/>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Cities were ranked using an underserved score.</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EV charging shortages were concentrated in regional clusters rather than isolated cities.</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Prioritize regional infrastructure investments to address concentrated charging gaps and improve EV accessibility.</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200">
              <a:solidFill>
                <a:srgbClr val="2B3D2D"/>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p:txBody>
      </p:sp>
      <p:sp>
        <p:nvSpPr>
          <p:cNvPr id="72" name="Google Shape;72;p13"/>
          <p:cNvSpPr txBox="1"/>
          <p:nvPr/>
        </p:nvSpPr>
        <p:spPr>
          <a:xfrm>
            <a:off x="137505" y="207696"/>
            <a:ext cx="3478844" cy="55473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Ranking</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Underserved</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Cities</a:t>
            </a:r>
            <a:endParaRPr sz="2000" b="1"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3" name="Google Shape;73;p13"/>
          <p:cNvPicPr preferRelativeResize="0"/>
          <p:nvPr/>
        </p:nvPicPr>
        <p:blipFill rotWithShape="1">
          <a:blip r:embed="rId3">
            <a:alphaModFix/>
          </a:blip>
          <a:srcRect/>
          <a:stretch/>
        </p:blipFill>
        <p:spPr>
          <a:xfrm>
            <a:off x="3313841" y="1073609"/>
            <a:ext cx="5667372" cy="349115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77"/>
        <p:cNvGrpSpPr/>
        <p:nvPr/>
      </p:nvGrpSpPr>
      <p:grpSpPr>
        <a:xfrm>
          <a:off x="0" y="0"/>
          <a:ext cx="0" cy="0"/>
          <a:chOff x="0" y="0"/>
          <a:chExt cx="0" cy="0"/>
        </a:xfrm>
      </p:grpSpPr>
      <p:cxnSp>
        <p:nvCxnSpPr>
          <p:cNvPr id="78" name="Google Shape;78;p14"/>
          <p:cNvCxnSpPr/>
          <p:nvPr/>
        </p:nvCxnSpPr>
        <p:spPr>
          <a:xfrm>
            <a:off x="7" y="674053"/>
            <a:ext cx="9182100" cy="300"/>
          </a:xfrm>
          <a:prstGeom prst="straightConnector1">
            <a:avLst/>
          </a:prstGeom>
          <a:noFill/>
          <a:ln w="9525" cap="flat" cmpd="sng">
            <a:solidFill>
              <a:srgbClr val="2B3D2D"/>
            </a:solidFill>
            <a:prstDash val="solid"/>
            <a:round/>
            <a:headEnd type="none" w="sm" len="sm"/>
            <a:tailEnd type="none" w="sm" len="sm"/>
          </a:ln>
        </p:spPr>
      </p:cxnSp>
      <p:sp>
        <p:nvSpPr>
          <p:cNvPr id="79" name="Google Shape;79;p14"/>
          <p:cNvSpPr/>
          <p:nvPr/>
        </p:nvSpPr>
        <p:spPr>
          <a:xfrm>
            <a:off x="139353" y="963525"/>
            <a:ext cx="8865300" cy="3718800"/>
          </a:xfrm>
          <a:prstGeom prst="rect">
            <a:avLst/>
          </a:prstGeom>
          <a:noFill/>
          <a:ln>
            <a:noFill/>
          </a:ln>
        </p:spPr>
        <p:txBody>
          <a:bodyPr spcFirstLastPara="1" wrap="square" lIns="91425" tIns="45700" rIns="91425" bIns="45700" anchor="t" anchorCtr="0">
            <a:noAutofit/>
          </a:bodyPr>
          <a:lstStyle/>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DBSCAN was selected because underserved regions are unknown beforehand, may form irregular geographic patterns, and can include isolated cities. </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Using the underservice ranking along with DBSCAN will provide additional information on concentrations of underserved cities, help identify gaps in infrastructure, help distinguish isolated geographic areas from the larger hotspots, and ultimately allow for more targeted installations of charging stations.</a:t>
            </a:r>
            <a:endParaRPr sz="1500">
              <a:solidFill>
                <a:srgbClr val="2B3D2D"/>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200"/>
              <a:buFont typeface="Arial"/>
              <a:buNone/>
            </a:pPr>
            <a:endParaRPr sz="1200">
              <a:solidFill>
                <a:srgbClr val="2B3D2D"/>
              </a:solidFill>
              <a:latin typeface="Times New Roman"/>
              <a:ea typeface="Times New Roman"/>
              <a:cs typeface="Times New Roman"/>
              <a:sym typeface="Times New Roman"/>
            </a:endParaRPr>
          </a:p>
        </p:txBody>
      </p:sp>
      <p:sp>
        <p:nvSpPr>
          <p:cNvPr id="80" name="Google Shape;80;p14"/>
          <p:cNvSpPr txBox="1"/>
          <p:nvPr/>
        </p:nvSpPr>
        <p:spPr>
          <a:xfrm>
            <a:off x="82503" y="96554"/>
            <a:ext cx="1952553" cy="425462"/>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Model</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Selection</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84"/>
        <p:cNvGrpSpPr/>
        <p:nvPr/>
      </p:nvGrpSpPr>
      <p:grpSpPr>
        <a:xfrm>
          <a:off x="0" y="0"/>
          <a:ext cx="0" cy="0"/>
          <a:chOff x="0" y="0"/>
          <a:chExt cx="0" cy="0"/>
        </a:xfrm>
      </p:grpSpPr>
      <p:cxnSp>
        <p:nvCxnSpPr>
          <p:cNvPr id="85" name="Google Shape;85;p15"/>
          <p:cNvCxnSpPr/>
          <p:nvPr/>
        </p:nvCxnSpPr>
        <p:spPr>
          <a:xfrm>
            <a:off x="-161065" y="625343"/>
            <a:ext cx="9182100" cy="300"/>
          </a:xfrm>
          <a:prstGeom prst="straightConnector1">
            <a:avLst/>
          </a:prstGeom>
          <a:noFill/>
          <a:ln w="9525" cap="flat" cmpd="sng">
            <a:solidFill>
              <a:srgbClr val="2B3D2D"/>
            </a:solidFill>
            <a:prstDash val="solid"/>
            <a:round/>
            <a:headEnd type="none" w="sm" len="sm"/>
            <a:tailEnd type="none" w="sm" len="sm"/>
          </a:ln>
        </p:spPr>
      </p:cxnSp>
      <p:sp>
        <p:nvSpPr>
          <p:cNvPr id="86" name="Google Shape;86;p15"/>
          <p:cNvSpPr/>
          <p:nvPr/>
        </p:nvSpPr>
        <p:spPr>
          <a:xfrm>
            <a:off x="220075" y="845951"/>
            <a:ext cx="3087000" cy="4128300"/>
          </a:xfrm>
          <a:prstGeom prst="rect">
            <a:avLst/>
          </a:prstGeom>
          <a:noFill/>
          <a:ln>
            <a:noFill/>
          </a:ln>
        </p:spPr>
        <p:txBody>
          <a:bodyPr spcFirstLastPara="1" wrap="square" lIns="91425" tIns="45700" rIns="91425" bIns="45700" anchor="t" anchorCtr="0">
            <a:noAutofit/>
          </a:bodyPr>
          <a:lstStyle/>
          <a:p>
            <a:pPr marL="457200" marR="0" lvl="0" indent="-311150" algn="l" rtl="0">
              <a:lnSpc>
                <a:spcPct val="150000"/>
              </a:lnSpc>
              <a:spcBef>
                <a:spcPts val="0"/>
              </a:spcBef>
              <a:spcAft>
                <a:spcPts val="0"/>
              </a:spcAft>
              <a:buClr>
                <a:srgbClr val="2B3D2D"/>
              </a:buClr>
              <a:buSzPts val="1300"/>
              <a:buFont typeface="Times New Roman"/>
              <a:buChar char="●"/>
            </a:pPr>
            <a:r>
              <a:rPr lang="en-US" sz="1300">
                <a:solidFill>
                  <a:srgbClr val="2B3D2D"/>
                </a:solidFill>
                <a:latin typeface="Times New Roman"/>
                <a:ea typeface="Times New Roman"/>
                <a:cs typeface="Times New Roman"/>
                <a:sym typeface="Times New Roman"/>
              </a:rPr>
              <a:t>DBSCAN found a total of 13(ignoring the outliers) of the areas that have been identified as underserved.</a:t>
            </a:r>
            <a:endParaRPr sz="13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300">
              <a:solidFill>
                <a:srgbClr val="2B3D2D"/>
              </a:solidFill>
              <a:latin typeface="Times New Roman"/>
              <a:ea typeface="Times New Roman"/>
              <a:cs typeface="Times New Roman"/>
              <a:sym typeface="Times New Roman"/>
            </a:endParaRPr>
          </a:p>
          <a:p>
            <a:pPr marL="457200" marR="0" lvl="0" indent="-311150" algn="l" rtl="0">
              <a:lnSpc>
                <a:spcPct val="150000"/>
              </a:lnSpc>
              <a:spcBef>
                <a:spcPts val="0"/>
              </a:spcBef>
              <a:spcAft>
                <a:spcPts val="0"/>
              </a:spcAft>
              <a:buClr>
                <a:srgbClr val="2B3D2D"/>
              </a:buClr>
              <a:buSzPts val="1300"/>
              <a:buFont typeface="Times New Roman"/>
              <a:buChar char="●"/>
            </a:pPr>
            <a:r>
              <a:rPr lang="en-US" sz="1300">
                <a:solidFill>
                  <a:srgbClr val="2B3D2D"/>
                </a:solidFill>
                <a:latin typeface="Times New Roman"/>
                <a:ea typeface="Times New Roman"/>
                <a:cs typeface="Times New Roman"/>
                <a:sym typeface="Times New Roman"/>
              </a:rPr>
              <a:t>The largest of the clusters were made up of several neighboring states, reflecting on a regional need for improvements related to infrastructure.</a:t>
            </a:r>
            <a:endParaRPr sz="13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300">
              <a:solidFill>
                <a:srgbClr val="2B3D2D"/>
              </a:solidFill>
              <a:latin typeface="Times New Roman"/>
              <a:ea typeface="Times New Roman"/>
              <a:cs typeface="Times New Roman"/>
              <a:sym typeface="Times New Roman"/>
            </a:endParaRPr>
          </a:p>
          <a:p>
            <a:pPr marL="457200" marR="0" lvl="0" indent="-311150" algn="l" rtl="0">
              <a:lnSpc>
                <a:spcPct val="150000"/>
              </a:lnSpc>
              <a:spcBef>
                <a:spcPts val="0"/>
              </a:spcBef>
              <a:spcAft>
                <a:spcPts val="0"/>
              </a:spcAft>
              <a:buClr>
                <a:srgbClr val="2B3D2D"/>
              </a:buClr>
              <a:buSzPts val="1300"/>
              <a:buFont typeface="Times New Roman"/>
              <a:buChar char="●"/>
            </a:pPr>
            <a:r>
              <a:rPr lang="en-US" sz="1300">
                <a:solidFill>
                  <a:srgbClr val="2B3D2D"/>
                </a:solidFill>
                <a:latin typeface="Times New Roman"/>
                <a:ea typeface="Times New Roman"/>
                <a:cs typeface="Times New Roman"/>
                <a:sym typeface="Times New Roman"/>
              </a:rPr>
              <a:t>The smaller clusters show localized hotspots of areas that are also underserved.</a:t>
            </a:r>
            <a:endParaRPr sz="13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200">
              <a:solidFill>
                <a:srgbClr val="2B3D2D"/>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a:p>
            <a:pPr marL="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p:txBody>
      </p:sp>
      <p:sp>
        <p:nvSpPr>
          <p:cNvPr id="87" name="Google Shape;87;p15"/>
          <p:cNvSpPr txBox="1"/>
          <p:nvPr/>
        </p:nvSpPr>
        <p:spPr>
          <a:xfrm>
            <a:off x="123753" y="124954"/>
            <a:ext cx="2605697" cy="50038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DBSCAN</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Clustering</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8" name="Google Shape;88;p15"/>
          <p:cNvPicPr preferRelativeResize="0"/>
          <p:nvPr/>
        </p:nvPicPr>
        <p:blipFill rotWithShape="1">
          <a:blip r:embed="rId3">
            <a:alphaModFix/>
          </a:blip>
          <a:srcRect/>
          <a:stretch/>
        </p:blipFill>
        <p:spPr>
          <a:xfrm>
            <a:off x="3872475" y="845950"/>
            <a:ext cx="5119123" cy="3950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92"/>
        <p:cNvGrpSpPr/>
        <p:nvPr/>
      </p:nvGrpSpPr>
      <p:grpSpPr>
        <a:xfrm>
          <a:off x="0" y="0"/>
          <a:ext cx="0" cy="0"/>
          <a:chOff x="0" y="0"/>
          <a:chExt cx="0" cy="0"/>
        </a:xfrm>
      </p:grpSpPr>
      <p:cxnSp>
        <p:nvCxnSpPr>
          <p:cNvPr id="93" name="Google Shape;93;p16"/>
          <p:cNvCxnSpPr/>
          <p:nvPr/>
        </p:nvCxnSpPr>
        <p:spPr>
          <a:xfrm>
            <a:off x="-73624" y="650087"/>
            <a:ext cx="9182100" cy="300"/>
          </a:xfrm>
          <a:prstGeom prst="straightConnector1">
            <a:avLst/>
          </a:prstGeom>
          <a:noFill/>
          <a:ln w="9525" cap="flat" cmpd="sng">
            <a:solidFill>
              <a:srgbClr val="2B3D2D"/>
            </a:solidFill>
            <a:prstDash val="solid"/>
            <a:round/>
            <a:headEnd type="none" w="sm" len="sm"/>
            <a:tailEnd type="none" w="sm" len="sm"/>
          </a:ln>
        </p:spPr>
      </p:cxnSp>
      <p:sp>
        <p:nvSpPr>
          <p:cNvPr id="94" name="Google Shape;94;p16"/>
          <p:cNvSpPr txBox="1"/>
          <p:nvPr/>
        </p:nvSpPr>
        <p:spPr>
          <a:xfrm>
            <a:off x="96253" y="159029"/>
            <a:ext cx="2695073" cy="48723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Working</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of</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DBSCAN</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txBox="1"/>
          <p:nvPr/>
        </p:nvSpPr>
        <p:spPr>
          <a:xfrm>
            <a:off x="537575" y="1888525"/>
            <a:ext cx="6321300" cy="219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6"/>
          <p:cNvSpPr txBox="1"/>
          <p:nvPr/>
        </p:nvSpPr>
        <p:spPr>
          <a:xfrm>
            <a:off x="96253" y="1060175"/>
            <a:ext cx="8842347" cy="3272650"/>
          </a:xfrm>
          <a:prstGeom prst="rect">
            <a:avLst/>
          </a:prstGeom>
          <a:noFill/>
          <a:ln>
            <a:noFill/>
          </a:ln>
        </p:spPr>
        <p:txBody>
          <a:bodyPr spcFirstLastPara="1" wrap="square" lIns="91425" tIns="91425" rIns="91425" bIns="91425" anchor="t" anchorCtr="0">
            <a:noAutofit/>
          </a:bodyPr>
          <a:lstStyle/>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Eps (i.e., Complete Runtime Distance) is set to 0.02 rad or approximately 127 km. </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Cities located within 127 km of each other are also considered as neighbours. </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An underserved city can be classified as a member of a cluster if it is geographically located within 5 neighbouring underserved cities. </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The Density-Based Method has identified County Regions with concentrated levels of infrastructural deficits. Clusters can extend up to, and beyond 127 km, by joining and adding together neighbouring cities.</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200">
              <a:solidFill>
                <a:srgbClr val="2B3D2D"/>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00"/>
        <p:cNvGrpSpPr/>
        <p:nvPr/>
      </p:nvGrpSpPr>
      <p:grpSpPr>
        <a:xfrm>
          <a:off x="0" y="0"/>
          <a:ext cx="0" cy="0"/>
          <a:chOff x="0" y="0"/>
          <a:chExt cx="0" cy="0"/>
        </a:xfrm>
      </p:grpSpPr>
      <p:cxnSp>
        <p:nvCxnSpPr>
          <p:cNvPr id="101" name="Google Shape;101;p17"/>
          <p:cNvCxnSpPr/>
          <p:nvPr/>
        </p:nvCxnSpPr>
        <p:spPr>
          <a:xfrm>
            <a:off x="-161065" y="625342"/>
            <a:ext cx="9182100" cy="300"/>
          </a:xfrm>
          <a:prstGeom prst="straightConnector1">
            <a:avLst/>
          </a:prstGeom>
          <a:noFill/>
          <a:ln w="9525" cap="flat" cmpd="sng">
            <a:solidFill>
              <a:srgbClr val="2B3D2D"/>
            </a:solidFill>
            <a:prstDash val="solid"/>
            <a:round/>
            <a:headEnd type="none" w="sm" len="sm"/>
            <a:tailEnd type="none" w="sm" len="sm"/>
          </a:ln>
        </p:spPr>
      </p:cxnSp>
      <p:sp>
        <p:nvSpPr>
          <p:cNvPr id="102" name="Google Shape;102;p17"/>
          <p:cNvSpPr/>
          <p:nvPr/>
        </p:nvSpPr>
        <p:spPr>
          <a:xfrm>
            <a:off x="220075" y="831900"/>
            <a:ext cx="3334500" cy="4115100"/>
          </a:xfrm>
          <a:prstGeom prst="rect">
            <a:avLst/>
          </a:prstGeom>
          <a:noFill/>
          <a:ln>
            <a:noFill/>
          </a:ln>
        </p:spPr>
        <p:txBody>
          <a:bodyPr spcFirstLastPara="1" wrap="square" lIns="91425" tIns="45700" rIns="91425" bIns="45700" anchor="t" anchorCtr="0">
            <a:noAutofit/>
          </a:bodyPr>
          <a:lstStyle/>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DBSCAN was tuned by varying the eps (neighborhood distance) parameter</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A grid search was performed to evaluate clustering behavior across different eps values.</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The best balance was achieved at eps ≈ 0.02, resulting in 13 clusters and 73 noise points.</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200">
              <a:solidFill>
                <a:srgbClr val="2B3D2D"/>
              </a:solidFill>
              <a:latin typeface="Times New Roman"/>
              <a:ea typeface="Times New Roman"/>
              <a:cs typeface="Times New Roman"/>
              <a:sym typeface="Times New Roman"/>
            </a:endParaRPr>
          </a:p>
        </p:txBody>
      </p:sp>
      <p:sp>
        <p:nvSpPr>
          <p:cNvPr id="103" name="Google Shape;103;p17"/>
          <p:cNvSpPr txBox="1"/>
          <p:nvPr/>
        </p:nvSpPr>
        <p:spPr>
          <a:xfrm>
            <a:off x="96252" y="103428"/>
            <a:ext cx="2186309" cy="52221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Model</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Tuning</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04" name="Google Shape;104;p17"/>
          <p:cNvGraphicFramePr/>
          <p:nvPr/>
        </p:nvGraphicFramePr>
        <p:xfrm>
          <a:off x="3870731" y="997202"/>
          <a:ext cx="3000000" cy="3000000"/>
        </p:xfrm>
        <a:graphic>
          <a:graphicData uri="http://schemas.openxmlformats.org/drawingml/2006/table">
            <a:tbl>
              <a:tblPr>
                <a:noFill/>
                <a:tableStyleId>{C455986C-D7BB-421E-9FE7-99E7DF827B28}</a:tableStyleId>
              </a:tblPr>
              <a:tblGrid>
                <a:gridCol w="1661100">
                  <a:extLst>
                    <a:ext uri="{9D8B030D-6E8A-4147-A177-3AD203B41FA5}">
                      <a16:colId xmlns:a16="http://schemas.microsoft.com/office/drawing/2014/main" val="20000"/>
                    </a:ext>
                  </a:extLst>
                </a:gridCol>
                <a:gridCol w="1661100">
                  <a:extLst>
                    <a:ext uri="{9D8B030D-6E8A-4147-A177-3AD203B41FA5}">
                      <a16:colId xmlns:a16="http://schemas.microsoft.com/office/drawing/2014/main" val="20001"/>
                    </a:ext>
                  </a:extLst>
                </a:gridCol>
                <a:gridCol w="1661100">
                  <a:extLst>
                    <a:ext uri="{9D8B030D-6E8A-4147-A177-3AD203B41FA5}">
                      <a16:colId xmlns:a16="http://schemas.microsoft.com/office/drawing/2014/main" val="20002"/>
                    </a:ext>
                  </a:extLst>
                </a:gridCol>
              </a:tblGrid>
              <a:tr h="634700">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eps</a:t>
                      </a:r>
                      <a:endParaRPr sz="11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Clusters</a:t>
                      </a:r>
                      <a:endParaRPr sz="11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Noise</a:t>
                      </a:r>
                      <a:endParaRPr sz="11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634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0.01</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46</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414</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634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0.012</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38</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288</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634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0.015</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25</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148</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634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0.018</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18 </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Times New Roman"/>
                          <a:ea typeface="Times New Roman"/>
                          <a:cs typeface="Times New Roman"/>
                          <a:sym typeface="Times New Roman"/>
                        </a:rPr>
                        <a:t>91</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634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highlight>
                            <a:srgbClr val="F9CB9C"/>
                          </a:highlight>
                          <a:latin typeface="Times New Roman"/>
                          <a:ea typeface="Times New Roman"/>
                          <a:cs typeface="Times New Roman"/>
                          <a:sym typeface="Times New Roman"/>
                        </a:rPr>
                        <a:t>0.02</a:t>
                      </a:r>
                      <a:endParaRPr sz="1100" u="none" strike="noStrike" cap="none">
                        <a:highlight>
                          <a:srgbClr val="F9CB9C"/>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highlight>
                          <a:srgbClr val="F9CB9C"/>
                        </a:highlight>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highlight>
                            <a:srgbClr val="F9CB9C"/>
                          </a:highlight>
                          <a:latin typeface="Times New Roman"/>
                          <a:ea typeface="Times New Roman"/>
                          <a:cs typeface="Times New Roman"/>
                          <a:sym typeface="Times New Roman"/>
                        </a:rPr>
                        <a:t>13</a:t>
                      </a:r>
                      <a:endParaRPr sz="1100" u="none" strike="noStrike" cap="none">
                        <a:highlight>
                          <a:srgbClr val="F9CB9C"/>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highlight>
                          <a:srgbClr val="F9CB9C"/>
                        </a:highlight>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highlight>
                            <a:srgbClr val="F9CB9C"/>
                          </a:highlight>
                          <a:latin typeface="Times New Roman"/>
                          <a:ea typeface="Times New Roman"/>
                          <a:cs typeface="Times New Roman"/>
                          <a:sym typeface="Times New Roman"/>
                        </a:rPr>
                        <a:t>73</a:t>
                      </a:r>
                      <a:endParaRPr sz="1100" u="none" strike="noStrike" cap="none">
                        <a:highlight>
                          <a:srgbClr val="F9CB9C"/>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highlight>
                          <a:srgbClr val="F9CB9C"/>
                        </a:highlight>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08"/>
        <p:cNvGrpSpPr/>
        <p:nvPr/>
      </p:nvGrpSpPr>
      <p:grpSpPr>
        <a:xfrm>
          <a:off x="0" y="0"/>
          <a:ext cx="0" cy="0"/>
          <a:chOff x="0" y="0"/>
          <a:chExt cx="0" cy="0"/>
        </a:xfrm>
      </p:grpSpPr>
      <p:cxnSp>
        <p:nvCxnSpPr>
          <p:cNvPr id="109" name="Google Shape;109;p18"/>
          <p:cNvCxnSpPr/>
          <p:nvPr/>
        </p:nvCxnSpPr>
        <p:spPr>
          <a:xfrm>
            <a:off x="-161065" y="753330"/>
            <a:ext cx="9182100" cy="300"/>
          </a:xfrm>
          <a:prstGeom prst="straightConnector1">
            <a:avLst/>
          </a:prstGeom>
          <a:noFill/>
          <a:ln w="9525" cap="flat" cmpd="sng">
            <a:solidFill>
              <a:srgbClr val="2B3D2D"/>
            </a:solidFill>
            <a:prstDash val="solid"/>
            <a:round/>
            <a:headEnd type="none" w="sm" len="sm"/>
            <a:tailEnd type="none" w="sm" len="sm"/>
          </a:ln>
        </p:spPr>
      </p:cxnSp>
      <p:sp>
        <p:nvSpPr>
          <p:cNvPr id="110" name="Google Shape;110;p18"/>
          <p:cNvSpPr/>
          <p:nvPr/>
        </p:nvSpPr>
        <p:spPr>
          <a:xfrm>
            <a:off x="220075" y="887800"/>
            <a:ext cx="3258900" cy="4072800"/>
          </a:xfrm>
          <a:prstGeom prst="rect">
            <a:avLst/>
          </a:prstGeom>
          <a:noFill/>
          <a:ln>
            <a:noFill/>
          </a:ln>
        </p:spPr>
        <p:txBody>
          <a:bodyPr spcFirstLastPara="1" wrap="square" lIns="91425" tIns="45700" rIns="91425" bIns="45700" anchor="t" anchorCtr="0">
            <a:noAutofit/>
          </a:bodyPr>
          <a:lstStyle/>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DBSCAN identified 13 distinct underserved regional clusters.</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Only 4.93% of cities were classified as noise (unclustered).</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95.07% of cities were grouped into clusters.</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The results indicate strong clustering coverage and meaningful hotspot identification</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200">
              <a:solidFill>
                <a:srgbClr val="2B3D2D"/>
              </a:solidFill>
              <a:latin typeface="Times New Roman"/>
              <a:ea typeface="Times New Roman"/>
              <a:cs typeface="Times New Roman"/>
              <a:sym typeface="Times New Roman"/>
            </a:endParaRPr>
          </a:p>
          <a:p>
            <a:pPr marL="91440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p:txBody>
      </p:sp>
      <p:sp>
        <p:nvSpPr>
          <p:cNvPr id="111" name="Google Shape;111;p18"/>
          <p:cNvSpPr txBox="1"/>
          <p:nvPr/>
        </p:nvSpPr>
        <p:spPr>
          <a:xfrm>
            <a:off x="103128" y="213731"/>
            <a:ext cx="2860078" cy="53476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Model</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Evaluation</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12" name="Google Shape;112;p18"/>
          <p:cNvGraphicFramePr/>
          <p:nvPr/>
        </p:nvGraphicFramePr>
        <p:xfrm>
          <a:off x="3781353" y="976577"/>
          <a:ext cx="3000000" cy="3000000"/>
        </p:xfrm>
        <a:graphic>
          <a:graphicData uri="http://schemas.openxmlformats.org/drawingml/2006/table">
            <a:tbl>
              <a:tblPr>
                <a:noFill/>
                <a:tableStyleId>{C455986C-D7BB-421E-9FE7-99E7DF827B28}</a:tableStyleId>
              </a:tblPr>
              <a:tblGrid>
                <a:gridCol w="2616750">
                  <a:extLst>
                    <a:ext uri="{9D8B030D-6E8A-4147-A177-3AD203B41FA5}">
                      <a16:colId xmlns:a16="http://schemas.microsoft.com/office/drawing/2014/main" val="20000"/>
                    </a:ext>
                  </a:extLst>
                </a:gridCol>
                <a:gridCol w="2288500">
                  <a:extLst>
                    <a:ext uri="{9D8B030D-6E8A-4147-A177-3AD203B41FA5}">
                      <a16:colId xmlns:a16="http://schemas.microsoft.com/office/drawing/2014/main" val="20001"/>
                    </a:ext>
                  </a:extLst>
                </a:gridCol>
              </a:tblGrid>
              <a:tr h="6450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Metric</a:t>
                      </a:r>
                      <a:endParaRPr sz="14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Value</a:t>
                      </a:r>
                      <a:endParaRPr sz="14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645050">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solidFill>
                            <a:schemeClr val="hlink"/>
                          </a:solidFill>
                          <a:latin typeface="Times New Roman"/>
                          <a:ea typeface="Times New Roman"/>
                          <a:cs typeface="Times New Roman"/>
                          <a:sym typeface="Times New Roman"/>
                          <a:hlinkClick r:id="rId3"/>
                        </a:rPr>
                        <a:t>No. of</a:t>
                      </a:r>
                      <a:r>
                        <a:rPr lang="en-US" sz="1400" u="none" strike="noStrike" cap="none">
                          <a:latin typeface="Times New Roman"/>
                          <a:ea typeface="Times New Roman"/>
                          <a:cs typeface="Times New Roman"/>
                          <a:sym typeface="Times New Roman"/>
                        </a:rPr>
                        <a:t> clusters</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13</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645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Noise percentage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4.93 %</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645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Coverage percentage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95.07 %</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645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Silhouette score</a:t>
                      </a:r>
                      <a:endParaRPr sz="14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0.178</a:t>
                      </a:r>
                      <a:endParaRPr sz="14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16"/>
        <p:cNvGrpSpPr/>
        <p:nvPr/>
      </p:nvGrpSpPr>
      <p:grpSpPr>
        <a:xfrm>
          <a:off x="0" y="0"/>
          <a:ext cx="0" cy="0"/>
          <a:chOff x="0" y="0"/>
          <a:chExt cx="0" cy="0"/>
        </a:xfrm>
      </p:grpSpPr>
      <p:cxnSp>
        <p:nvCxnSpPr>
          <p:cNvPr id="117" name="Google Shape;117;p19"/>
          <p:cNvCxnSpPr/>
          <p:nvPr/>
        </p:nvCxnSpPr>
        <p:spPr>
          <a:xfrm>
            <a:off x="-19056" y="663203"/>
            <a:ext cx="9182100" cy="300"/>
          </a:xfrm>
          <a:prstGeom prst="straightConnector1">
            <a:avLst/>
          </a:prstGeom>
          <a:noFill/>
          <a:ln w="9525" cap="flat" cmpd="sng">
            <a:solidFill>
              <a:srgbClr val="2B3D2D"/>
            </a:solidFill>
            <a:prstDash val="solid"/>
            <a:round/>
            <a:headEnd type="none" w="sm" len="sm"/>
            <a:tailEnd type="none" w="sm" len="sm"/>
          </a:ln>
        </p:spPr>
      </p:cxnSp>
      <p:sp>
        <p:nvSpPr>
          <p:cNvPr id="118" name="Google Shape;118;p19"/>
          <p:cNvSpPr/>
          <p:nvPr/>
        </p:nvSpPr>
        <p:spPr>
          <a:xfrm>
            <a:off x="569725" y="982975"/>
            <a:ext cx="2378700" cy="3994200"/>
          </a:xfrm>
          <a:prstGeom prst="rect">
            <a:avLst/>
          </a:prstGeom>
          <a:noFill/>
          <a:ln>
            <a:noFill/>
          </a:ln>
        </p:spPr>
        <p:txBody>
          <a:bodyPr spcFirstLastPara="1" wrap="square" lIns="91425" tIns="45700" rIns="91425" bIns="45700" anchor="t" anchorCtr="0">
            <a:noAutofit/>
          </a:bodyPr>
          <a:lstStyle/>
          <a:p>
            <a:pPr marL="457200" marR="0" lvl="0" indent="-317500" algn="l" rtl="0">
              <a:lnSpc>
                <a:spcPct val="150000"/>
              </a:lnSpc>
              <a:spcBef>
                <a:spcPts val="0"/>
              </a:spcBef>
              <a:spcAft>
                <a:spcPts val="0"/>
              </a:spcAft>
              <a:buClr>
                <a:srgbClr val="2B3D2D"/>
              </a:buClr>
              <a:buSzPts val="1400"/>
              <a:buFont typeface="Times New Roman"/>
              <a:buChar char="●"/>
            </a:pPr>
            <a:r>
              <a:rPr lang="en-US">
                <a:solidFill>
                  <a:srgbClr val="2B3D2D"/>
                </a:solidFill>
                <a:latin typeface="Times New Roman"/>
                <a:ea typeface="Times New Roman"/>
                <a:cs typeface="Times New Roman"/>
                <a:sym typeface="Times New Roman"/>
              </a:rPr>
              <a:t>Selected the 5 most underserved clusters based on low station density.</a:t>
            </a:r>
            <a:endParaRPr>
              <a:solidFill>
                <a:srgbClr val="2B3D2D"/>
              </a:solidFill>
              <a:latin typeface="Times New Roman"/>
              <a:ea typeface="Times New Roman"/>
              <a:cs typeface="Times New Roman"/>
              <a:sym typeface="Times New Roman"/>
            </a:endParaRPr>
          </a:p>
          <a:p>
            <a:pPr marL="457200" marR="0" lvl="0" indent="-317500" algn="l" rtl="0">
              <a:lnSpc>
                <a:spcPct val="150000"/>
              </a:lnSpc>
              <a:spcBef>
                <a:spcPts val="0"/>
              </a:spcBef>
              <a:spcAft>
                <a:spcPts val="0"/>
              </a:spcAft>
              <a:buClr>
                <a:srgbClr val="2B3D2D"/>
              </a:buClr>
              <a:buSzPts val="1400"/>
              <a:buFont typeface="Times New Roman"/>
              <a:buChar char="●"/>
            </a:pPr>
            <a:r>
              <a:rPr lang="en-US">
                <a:solidFill>
                  <a:srgbClr val="2B3D2D"/>
                </a:solidFill>
                <a:latin typeface="Times New Roman"/>
                <a:ea typeface="Times New Roman"/>
                <a:cs typeface="Times New Roman"/>
                <a:sym typeface="Times New Roman"/>
              </a:rPr>
              <a:t>Compared charging infrastructure against population and traffic demand</a:t>
            </a:r>
            <a:endParaRPr>
              <a:solidFill>
                <a:srgbClr val="2B3D2D"/>
              </a:solidFill>
              <a:latin typeface="Times New Roman"/>
              <a:ea typeface="Times New Roman"/>
              <a:cs typeface="Times New Roman"/>
              <a:sym typeface="Times New Roman"/>
            </a:endParaRPr>
          </a:p>
          <a:p>
            <a:pPr marL="457200" marR="0" lvl="0" indent="-317500" algn="l" rtl="0">
              <a:lnSpc>
                <a:spcPct val="150000"/>
              </a:lnSpc>
              <a:spcBef>
                <a:spcPts val="0"/>
              </a:spcBef>
              <a:spcAft>
                <a:spcPts val="0"/>
              </a:spcAft>
              <a:buClr>
                <a:srgbClr val="2B3D2D"/>
              </a:buClr>
              <a:buSzPts val="1400"/>
              <a:buFont typeface="Times New Roman"/>
              <a:buChar char="●"/>
            </a:pPr>
            <a:r>
              <a:rPr lang="en-US">
                <a:solidFill>
                  <a:srgbClr val="2B3D2D"/>
                </a:solidFill>
                <a:latin typeface="Times New Roman"/>
                <a:ea typeface="Times New Roman"/>
                <a:cs typeface="Times New Roman"/>
                <a:sym typeface="Times New Roman"/>
              </a:rPr>
              <a:t>Identified priority regions with significant infrastructure gaps.</a:t>
            </a:r>
            <a:endParaRPr>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200">
              <a:solidFill>
                <a:srgbClr val="2B3D2D"/>
              </a:solidFill>
              <a:latin typeface="Times New Roman"/>
              <a:ea typeface="Times New Roman"/>
              <a:cs typeface="Times New Roman"/>
              <a:sym typeface="Times New Roman"/>
            </a:endParaRPr>
          </a:p>
          <a:p>
            <a:pPr marL="137160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p:txBody>
      </p:sp>
      <p:sp>
        <p:nvSpPr>
          <p:cNvPr id="119" name="Google Shape;119;p19"/>
          <p:cNvSpPr txBox="1"/>
          <p:nvPr/>
        </p:nvSpPr>
        <p:spPr>
          <a:xfrm>
            <a:off x="130628" y="82502"/>
            <a:ext cx="3355092" cy="49411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Top</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underserved</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clusters</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0" name="Google Shape;120;p19" title="top_5_clusters.png"/>
          <p:cNvPicPr preferRelativeResize="0"/>
          <p:nvPr/>
        </p:nvPicPr>
        <p:blipFill rotWithShape="1">
          <a:blip r:embed="rId3">
            <a:alphaModFix/>
          </a:blip>
          <a:srcRect/>
          <a:stretch/>
        </p:blipFill>
        <p:spPr>
          <a:xfrm>
            <a:off x="3298475" y="845825"/>
            <a:ext cx="5710525" cy="37581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24"/>
        <p:cNvGrpSpPr/>
        <p:nvPr/>
      </p:nvGrpSpPr>
      <p:grpSpPr>
        <a:xfrm>
          <a:off x="0" y="0"/>
          <a:ext cx="0" cy="0"/>
          <a:chOff x="0" y="0"/>
          <a:chExt cx="0" cy="0"/>
        </a:xfrm>
      </p:grpSpPr>
      <p:cxnSp>
        <p:nvCxnSpPr>
          <p:cNvPr id="125" name="Google Shape;125;p20"/>
          <p:cNvCxnSpPr/>
          <p:nvPr/>
        </p:nvCxnSpPr>
        <p:spPr>
          <a:xfrm>
            <a:off x="-161065" y="698628"/>
            <a:ext cx="9182100" cy="300"/>
          </a:xfrm>
          <a:prstGeom prst="straightConnector1">
            <a:avLst/>
          </a:prstGeom>
          <a:noFill/>
          <a:ln w="9525" cap="flat" cmpd="sng">
            <a:solidFill>
              <a:srgbClr val="2B3D2D"/>
            </a:solidFill>
            <a:prstDash val="solid"/>
            <a:round/>
            <a:headEnd type="none" w="sm" len="sm"/>
            <a:tailEnd type="none" w="sm" len="sm"/>
          </a:ln>
        </p:spPr>
      </p:cxnSp>
      <p:sp>
        <p:nvSpPr>
          <p:cNvPr id="126" name="Google Shape;126;p20"/>
          <p:cNvSpPr/>
          <p:nvPr/>
        </p:nvSpPr>
        <p:spPr>
          <a:xfrm>
            <a:off x="220085" y="1465640"/>
            <a:ext cx="4209900" cy="1523400"/>
          </a:xfrm>
          <a:prstGeom prst="rect">
            <a:avLst/>
          </a:prstGeom>
          <a:noFill/>
          <a:ln>
            <a:noFill/>
          </a:ln>
        </p:spPr>
        <p:txBody>
          <a:bodyPr spcFirstLastPara="1" wrap="square" lIns="91425" tIns="45700" rIns="91425" bIns="45700" anchor="t" anchorCtr="0">
            <a:noAutofit/>
          </a:bodyPr>
          <a:lstStyle/>
          <a:p>
            <a:pPr marL="137160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p:txBody>
      </p:sp>
      <p:sp>
        <p:nvSpPr>
          <p:cNvPr id="127" name="Google Shape;127;p20"/>
          <p:cNvSpPr txBox="1"/>
          <p:nvPr/>
        </p:nvSpPr>
        <p:spPr>
          <a:xfrm>
            <a:off x="116879" y="187610"/>
            <a:ext cx="2426942" cy="51335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Cluster</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Profile</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20"/>
          <p:cNvSpPr txBox="1"/>
          <p:nvPr/>
        </p:nvSpPr>
        <p:spPr>
          <a:xfrm>
            <a:off x="236225" y="984050"/>
            <a:ext cx="3046500" cy="3642600"/>
          </a:xfrm>
          <a:prstGeom prst="rect">
            <a:avLst/>
          </a:prstGeom>
          <a:noFill/>
          <a:ln>
            <a:noFill/>
          </a:ln>
        </p:spPr>
        <p:txBody>
          <a:bodyPr spcFirstLastPara="1" wrap="square" lIns="91425" tIns="91425" rIns="91425" bIns="91425" anchor="t" anchorCtr="0">
            <a:noAutofit/>
          </a:bodyPr>
          <a:lstStyle/>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Cluster-based analysis of the distribution network based on demand, congestion and infrastructure performance has been completed. </a:t>
            </a:r>
            <a:endParaRPr sz="1500">
              <a:solidFill>
                <a:srgbClr val="2B3D2D"/>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Clusters 1, 3, and 4 with high demand and congestion levels are the most appropriate locations for capital investment in your infrastructure.</a:t>
            </a:r>
            <a:endParaRPr sz="1500">
              <a:solidFill>
                <a:srgbClr val="2B3D2D"/>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1200">
              <a:solidFill>
                <a:srgbClr val="2B3D2D"/>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9" name="Google Shape;129;p20"/>
          <p:cNvPicPr preferRelativeResize="0"/>
          <p:nvPr/>
        </p:nvPicPr>
        <p:blipFill rotWithShape="1">
          <a:blip r:embed="rId3">
            <a:alphaModFix/>
          </a:blip>
          <a:srcRect/>
          <a:stretch/>
        </p:blipFill>
        <p:spPr>
          <a:xfrm>
            <a:off x="3790200" y="1121250"/>
            <a:ext cx="5117574" cy="3290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33"/>
        <p:cNvGrpSpPr/>
        <p:nvPr/>
      </p:nvGrpSpPr>
      <p:grpSpPr>
        <a:xfrm>
          <a:off x="0" y="0"/>
          <a:ext cx="0" cy="0"/>
          <a:chOff x="0" y="0"/>
          <a:chExt cx="0" cy="0"/>
        </a:xfrm>
      </p:grpSpPr>
      <p:cxnSp>
        <p:nvCxnSpPr>
          <p:cNvPr id="134" name="Google Shape;134;p21"/>
          <p:cNvCxnSpPr/>
          <p:nvPr/>
        </p:nvCxnSpPr>
        <p:spPr>
          <a:xfrm>
            <a:off x="-19050" y="761955"/>
            <a:ext cx="9182100" cy="300"/>
          </a:xfrm>
          <a:prstGeom prst="straightConnector1">
            <a:avLst/>
          </a:prstGeom>
          <a:noFill/>
          <a:ln w="9525" cap="flat" cmpd="sng">
            <a:solidFill>
              <a:srgbClr val="2B3D2D"/>
            </a:solidFill>
            <a:prstDash val="solid"/>
            <a:round/>
            <a:headEnd type="none" w="sm" len="sm"/>
            <a:tailEnd type="none" w="sm" len="sm"/>
          </a:ln>
        </p:spPr>
      </p:cxnSp>
      <p:sp>
        <p:nvSpPr>
          <p:cNvPr id="135" name="Google Shape;135;p21"/>
          <p:cNvSpPr/>
          <p:nvPr/>
        </p:nvSpPr>
        <p:spPr>
          <a:xfrm>
            <a:off x="220085" y="1465640"/>
            <a:ext cx="4209900" cy="1523400"/>
          </a:xfrm>
          <a:prstGeom prst="rect">
            <a:avLst/>
          </a:prstGeom>
          <a:noFill/>
          <a:ln>
            <a:noFill/>
          </a:ln>
        </p:spPr>
        <p:txBody>
          <a:bodyPr spcFirstLastPara="1" wrap="square" lIns="91425" tIns="45700" rIns="91425" bIns="45700" anchor="t" anchorCtr="0">
            <a:noAutofit/>
          </a:bodyPr>
          <a:lstStyle/>
          <a:p>
            <a:pPr marL="137160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p:txBody>
      </p:sp>
      <p:sp>
        <p:nvSpPr>
          <p:cNvPr id="136" name="Google Shape;136;p21"/>
          <p:cNvSpPr txBox="1"/>
          <p:nvPr/>
        </p:nvSpPr>
        <p:spPr>
          <a:xfrm>
            <a:off x="144379" y="187610"/>
            <a:ext cx="2330689" cy="57433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Overall</a:t>
            </a:r>
            <a:r>
              <a:rPr lang="en-US" sz="2000" b="0" i="0" u="none" strike="noStrike" cap="none">
                <a:solidFill>
                  <a:srgbClr val="2B3D2D"/>
                </a:solidFill>
                <a:latin typeface="Times New Roman"/>
                <a:ea typeface="Times New Roman"/>
                <a:cs typeface="Times New Roman"/>
                <a:sym typeface="Times New Roman"/>
              </a:rPr>
              <a:t> </a:t>
            </a:r>
            <a:r>
              <a:rPr lang="en-US" sz="2000" b="1" i="0" u="none" strike="noStrike" cap="none">
                <a:solidFill>
                  <a:srgbClr val="2B3D2D"/>
                </a:solidFill>
                <a:latin typeface="Times New Roman"/>
                <a:ea typeface="Times New Roman"/>
                <a:cs typeface="Times New Roman"/>
                <a:sym typeface="Times New Roman"/>
              </a:rPr>
              <a:t>Findings</a:t>
            </a:r>
            <a:endParaRPr sz="2000" b="1"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21"/>
          <p:cNvSpPr txBox="1"/>
          <p:nvPr/>
        </p:nvSpPr>
        <p:spPr>
          <a:xfrm>
            <a:off x="220085" y="976277"/>
            <a:ext cx="8257022" cy="3595423"/>
          </a:xfrm>
          <a:prstGeom prst="rect">
            <a:avLst/>
          </a:prstGeom>
          <a:no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Underservice scoring has  effectively   identified cities that have inadequate charging infrastructure with respect to population and traffic congestion.</a:t>
            </a:r>
            <a:endParaRPr sz="1500">
              <a:solidFill>
                <a:srgbClr val="2B3D2D"/>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500">
              <a:solidFill>
                <a:srgbClr val="2B3D2D"/>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The cities with the highest underserved ratings are found within specific geographical areas.</a:t>
            </a:r>
            <a:endParaRPr sz="1500">
              <a:solidFill>
                <a:srgbClr val="2B3D2D"/>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500">
              <a:solidFill>
                <a:srgbClr val="2B3D2D"/>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Using the DBSCAN clustering method, we identified the  locations with distinct underserved clusters with infrastructure deficiencies.</a:t>
            </a:r>
            <a:endParaRPr sz="1500">
              <a:solidFill>
                <a:srgbClr val="2B3D2D"/>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500">
              <a:solidFill>
                <a:srgbClr val="2B3D2D"/>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Additionally, some underserved clusters are present across several different neighbouring cities; thus, there are deficiencies related to charging at the regional level versus the city level.</a:t>
            </a:r>
            <a:endParaRPr sz="1500">
              <a:solidFill>
                <a:srgbClr val="2B3D2D"/>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500">
              <a:solidFill>
                <a:srgbClr val="2B3D2D"/>
              </a:solidFill>
              <a:latin typeface="Times New Roman"/>
              <a:ea typeface="Times New Roman"/>
              <a:cs typeface="Times New Roman"/>
              <a:sym typeface="Times New Roman"/>
            </a:endParaRPr>
          </a:p>
          <a:p>
            <a:pPr marL="457200" marR="0" lvl="0" indent="-323850" algn="l" rtl="0">
              <a:lnSpc>
                <a:spcPct val="100000"/>
              </a:lnSpc>
              <a:spcBef>
                <a:spcPts val="0"/>
              </a:spcBef>
              <a:spcAft>
                <a:spcPts val="0"/>
              </a:spcAft>
              <a:buClr>
                <a:srgbClr val="2B3D2D"/>
              </a:buClr>
              <a:buSzPts val="1500"/>
              <a:buFont typeface="Times New Roman"/>
              <a:buChar char="●"/>
            </a:pPr>
            <a:r>
              <a:rPr lang="en-US" sz="1500">
                <a:solidFill>
                  <a:srgbClr val="2B3D2D"/>
                </a:solidFill>
                <a:latin typeface="Times New Roman"/>
                <a:ea typeface="Times New Roman"/>
                <a:cs typeface="Times New Roman"/>
                <a:sym typeface="Times New Roman"/>
              </a:rPr>
              <a:t>This information allows for both ranking (based on underserved) and spatial clustering to better guide future electric vehicle charging investments.</a:t>
            </a:r>
            <a:endParaRPr sz="1500">
              <a:solidFill>
                <a:srgbClr val="2B3D2D"/>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200">
              <a:solidFill>
                <a:srgbClr val="2B3D2D"/>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41"/>
        <p:cNvGrpSpPr/>
        <p:nvPr/>
      </p:nvGrpSpPr>
      <p:grpSpPr>
        <a:xfrm>
          <a:off x="0" y="0"/>
          <a:ext cx="0" cy="0"/>
          <a:chOff x="0" y="0"/>
          <a:chExt cx="0" cy="0"/>
        </a:xfrm>
      </p:grpSpPr>
      <p:cxnSp>
        <p:nvCxnSpPr>
          <p:cNvPr id="142" name="Google Shape;142;p22"/>
          <p:cNvCxnSpPr/>
          <p:nvPr/>
        </p:nvCxnSpPr>
        <p:spPr>
          <a:xfrm>
            <a:off x="10" y="690028"/>
            <a:ext cx="9182100" cy="300"/>
          </a:xfrm>
          <a:prstGeom prst="straightConnector1">
            <a:avLst/>
          </a:prstGeom>
          <a:noFill/>
          <a:ln w="9525" cap="flat" cmpd="sng">
            <a:solidFill>
              <a:srgbClr val="2B3D2D"/>
            </a:solidFill>
            <a:prstDash val="solid"/>
            <a:round/>
            <a:headEnd type="none" w="sm" len="sm"/>
            <a:tailEnd type="none" w="sm" len="sm"/>
          </a:ln>
        </p:spPr>
      </p:cxnSp>
      <p:sp>
        <p:nvSpPr>
          <p:cNvPr id="143" name="Google Shape;143;p22"/>
          <p:cNvSpPr/>
          <p:nvPr/>
        </p:nvSpPr>
        <p:spPr>
          <a:xfrm>
            <a:off x="220085" y="1465640"/>
            <a:ext cx="4209900" cy="1523400"/>
          </a:xfrm>
          <a:prstGeom prst="rect">
            <a:avLst/>
          </a:prstGeom>
          <a:noFill/>
          <a:ln>
            <a:noFill/>
          </a:ln>
        </p:spPr>
        <p:txBody>
          <a:bodyPr spcFirstLastPara="1" wrap="square" lIns="91425" tIns="45700" rIns="91425" bIns="45700" anchor="t" anchorCtr="0">
            <a:noAutofit/>
          </a:bodyPr>
          <a:lstStyle/>
          <a:p>
            <a:pPr marL="1371600" marR="0" lvl="0" indent="0" algn="l" rtl="0">
              <a:lnSpc>
                <a:spcPct val="150000"/>
              </a:lnSpc>
              <a:spcBef>
                <a:spcPts val="0"/>
              </a:spcBef>
              <a:spcAft>
                <a:spcPts val="0"/>
              </a:spcAft>
              <a:buClr>
                <a:srgbClr val="000000"/>
              </a:buClr>
              <a:buSzPts val="1200"/>
              <a:buFont typeface="Arial"/>
              <a:buNone/>
            </a:pPr>
            <a:endParaRPr sz="1200" b="0" i="0" u="none" strike="noStrike" cap="none">
              <a:solidFill>
                <a:srgbClr val="2B3D2D"/>
              </a:solidFill>
              <a:latin typeface="Open Sans"/>
              <a:ea typeface="Open Sans"/>
              <a:cs typeface="Open Sans"/>
              <a:sym typeface="Open Sans"/>
            </a:endParaRPr>
          </a:p>
        </p:txBody>
      </p:sp>
      <p:sp>
        <p:nvSpPr>
          <p:cNvPr id="144" name="Google Shape;144;p22"/>
          <p:cNvSpPr txBox="1"/>
          <p:nvPr/>
        </p:nvSpPr>
        <p:spPr>
          <a:xfrm>
            <a:off x="123753" y="187610"/>
            <a:ext cx="1739423" cy="43055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B3D2D"/>
                </a:solidFill>
                <a:latin typeface="Times New Roman"/>
                <a:ea typeface="Times New Roman"/>
                <a:cs typeface="Times New Roman"/>
                <a:sym typeface="Times New Roman"/>
              </a:rPr>
              <a:t>Conclusion</a:t>
            </a:r>
            <a:endParaRPr sz="2000" b="1" i="0" u="none" strike="noStrike" cap="none">
              <a:solidFill>
                <a:srgbClr val="2B3D2D"/>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B3D2D"/>
              </a:solidFill>
              <a:latin typeface="Manrope"/>
              <a:ea typeface="Manrope"/>
              <a:cs typeface="Manrope"/>
              <a:sym typeface="Manro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22"/>
          <p:cNvSpPr txBox="1"/>
          <p:nvPr/>
        </p:nvSpPr>
        <p:spPr>
          <a:xfrm>
            <a:off x="123753" y="997502"/>
            <a:ext cx="7729022" cy="3115048"/>
          </a:xfrm>
          <a:prstGeom prst="rect">
            <a:avLst/>
          </a:prstGeom>
          <a:noFill/>
          <a:ln>
            <a:noFill/>
          </a:ln>
        </p:spPr>
        <p:txBody>
          <a:bodyPr spcFirstLastPara="1" wrap="square" lIns="91425" tIns="91425" rIns="91425" bIns="91425" anchor="t" anchorCtr="0">
            <a:noAutofit/>
          </a:bodyPr>
          <a:lstStyle/>
          <a:p>
            <a:pPr marL="457200" marR="0" lvl="0" indent="-323850" algn="just" rtl="0">
              <a:lnSpc>
                <a:spcPct val="100000"/>
              </a:lnSpc>
              <a:spcBef>
                <a:spcPts val="0"/>
              </a:spcBef>
              <a:spcAft>
                <a:spcPts val="0"/>
              </a:spcAft>
              <a:buClr>
                <a:srgbClr val="2B3D2D"/>
              </a:buClr>
              <a:buSzPts val="1500"/>
              <a:buFont typeface="Times New Roman"/>
              <a:buChar char="●"/>
            </a:pPr>
            <a:r>
              <a:rPr lang="en-US" sz="1500" b="0" i="0" u="none" strike="noStrike" cap="none">
                <a:solidFill>
                  <a:srgbClr val="2B3D2D"/>
                </a:solidFill>
                <a:latin typeface="Times New Roman"/>
                <a:ea typeface="Times New Roman"/>
                <a:cs typeface="Times New Roman"/>
                <a:sym typeface="Times New Roman"/>
              </a:rPr>
              <a:t>While the current framework provides meaningful insights, it can be further strengthened by incorporating additional demographic and contextual variables such as income levels, vehicle ownership, urban density, and policy differences, as well as by integrating temporal analysis to better understand how infrastructure needs evolve over time. </a:t>
            </a:r>
            <a:endParaRPr sz="1500" b="0" i="0" u="none" strike="noStrike" cap="none">
              <a:solidFill>
                <a:srgbClr val="2B3D2D"/>
              </a:solidFill>
              <a:latin typeface="Times New Roman"/>
              <a:ea typeface="Times New Roman"/>
              <a:cs typeface="Times New Roman"/>
              <a:sym typeface="Times New Roman"/>
            </a:endParaRPr>
          </a:p>
          <a:p>
            <a:pPr marL="1371600" marR="0" lvl="0" indent="0" algn="just" rtl="0">
              <a:lnSpc>
                <a:spcPct val="100000"/>
              </a:lnSpc>
              <a:spcBef>
                <a:spcPts val="0"/>
              </a:spcBef>
              <a:spcAft>
                <a:spcPts val="0"/>
              </a:spcAft>
              <a:buClr>
                <a:srgbClr val="000000"/>
              </a:buClr>
              <a:buSzPts val="1200"/>
              <a:buFont typeface="Arial"/>
              <a:buNone/>
            </a:pPr>
            <a:endParaRPr sz="1500" b="0" i="0" u="none" strike="noStrike" cap="none">
              <a:solidFill>
                <a:srgbClr val="2B3D2D"/>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2B3D2D"/>
              </a:buClr>
              <a:buSzPts val="1500"/>
              <a:buFont typeface="Times New Roman"/>
              <a:buChar char="●"/>
            </a:pPr>
            <a:r>
              <a:rPr lang="en-US" sz="1500" b="0" i="0" u="none" strike="noStrike" cap="none">
                <a:solidFill>
                  <a:srgbClr val="2B3D2D"/>
                </a:solidFill>
                <a:latin typeface="Times New Roman"/>
                <a:ea typeface="Times New Roman"/>
                <a:cs typeface="Times New Roman"/>
                <a:sym typeface="Times New Roman"/>
              </a:rPr>
              <a:t>Overall, the study provides a scalable and interpretable foundation for evidence-based planning of EV infrastructure with strong potential for future expansion.</a:t>
            </a:r>
            <a:endParaRPr sz="1500" b="0" i="0" u="none" strike="noStrike" cap="none">
              <a:solidFill>
                <a:srgbClr val="2B3D2D"/>
              </a:solidFill>
              <a:latin typeface="Times New Roman"/>
              <a:ea typeface="Times New Roman"/>
              <a:cs typeface="Times New Roman"/>
              <a:sym typeface="Times New Roman"/>
            </a:endParaRPr>
          </a:p>
          <a:p>
            <a:pPr marL="1371600" marR="0" lvl="0" indent="0" algn="just" rtl="0">
              <a:lnSpc>
                <a:spcPct val="100000"/>
              </a:lnSpc>
              <a:spcBef>
                <a:spcPts val="0"/>
              </a:spcBef>
              <a:spcAft>
                <a:spcPts val="0"/>
              </a:spcAft>
              <a:buClr>
                <a:srgbClr val="000000"/>
              </a:buClr>
              <a:buSzPts val="1200"/>
              <a:buFont typeface="Arial"/>
              <a:buNone/>
            </a:pPr>
            <a:endParaRPr sz="1500" b="0" i="0" u="none" strike="noStrike" cap="none">
              <a:solidFill>
                <a:srgbClr val="2B3D2D"/>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1179</Words>
  <Application>Microsoft Office PowerPoint</Application>
  <PresentationFormat>On-screen Show (16:9)</PresentationFormat>
  <Paragraphs>153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Times New Roman</vt:lpstr>
      <vt:lpstr>Manrope</vt:lpstr>
      <vt:lpstr>Arial</vt:lpstr>
      <vt:lpstr>Noto Sans Symbols</vt:lpstr>
      <vt:lpstr>Open Sans</vt:lpstr>
      <vt:lpstr>Corporate Sustainability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RUTHIKA</dc:creator>
  <cp:lastModifiedBy>Ruthika Vallaboju</cp:lastModifiedBy>
  <cp:revision>1</cp:revision>
  <dcterms:modified xsi:type="dcterms:W3CDTF">2026-07-02T04:00:49Z</dcterms:modified>
</cp:coreProperties>
</file>